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5" r:id="rId6"/>
    <p:sldId id="267" r:id="rId7"/>
    <p:sldId id="264" r:id="rId8"/>
    <p:sldId id="266" r:id="rId9"/>
    <p:sldId id="275" r:id="rId10"/>
    <p:sldId id="276" r:id="rId11"/>
    <p:sldId id="277" r:id="rId12"/>
    <p:sldId id="278" r:id="rId13"/>
    <p:sldId id="268" r:id="rId14"/>
    <p:sldId id="270" r:id="rId15"/>
    <p:sldId id="271" r:id="rId16"/>
    <p:sldId id="273" r:id="rId17"/>
    <p:sldId id="279" r:id="rId18"/>
    <p:sldId id="28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42" y="3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itchFamily="18" charset="0"/>
                <a:cs typeface="Times New Roman" pitchFamily="18" charset="0"/>
              </a:rPr>
              <a:t>DECREE 2(2) </a:t>
            </a:r>
          </a:p>
        </p:txBody>
      </p:sp>
      <p:sp>
        <p:nvSpPr>
          <p:cNvPr id="3" name="Content Placeholder 2"/>
          <p:cNvSpPr>
            <a:spLocks noGrp="1"/>
          </p:cNvSpPr>
          <p:nvPr>
            <p:ph idx="1"/>
          </p:nvPr>
        </p:nvSpPr>
        <p:spPr>
          <a:xfrm>
            <a:off x="457200" y="1295400"/>
            <a:ext cx="8229600" cy="4830763"/>
          </a:xfrm>
        </p:spPr>
        <p:txBody>
          <a:bodyPr>
            <a:normAutofit fontScale="92500" lnSpcReduction="10000"/>
          </a:bodyPr>
          <a:lstStyle/>
          <a:p>
            <a:pPr algn="just">
              <a:lnSpc>
                <a:spcPct val="150000"/>
              </a:lnSpc>
              <a:buNone/>
            </a:pPr>
            <a:r>
              <a:rPr lang="en-US" sz="2000" dirty="0">
                <a:latin typeface="Times New Roman" pitchFamily="18" charset="0"/>
                <a:cs typeface="Times New Roman" pitchFamily="18" charset="0"/>
              </a:rPr>
              <a:t>“Decree” means </a:t>
            </a:r>
          </a:p>
          <a:p>
            <a:pPr algn="just">
              <a:lnSpc>
                <a:spcPct val="150000"/>
              </a:lnSpc>
            </a:pPr>
            <a:r>
              <a:rPr lang="en-US" sz="2000" dirty="0">
                <a:latin typeface="Times New Roman" pitchFamily="18" charset="0"/>
                <a:cs typeface="Times New Roman" pitchFamily="18" charset="0"/>
              </a:rPr>
              <a:t>the formal expression of an adjudication </a:t>
            </a:r>
          </a:p>
          <a:p>
            <a:pPr algn="just">
              <a:lnSpc>
                <a:spcPct val="150000"/>
              </a:lnSpc>
            </a:pPr>
            <a:r>
              <a:rPr lang="en-US" sz="2000" dirty="0">
                <a:latin typeface="Times New Roman" pitchFamily="18" charset="0"/>
                <a:cs typeface="Times New Roman" pitchFamily="18" charset="0"/>
              </a:rPr>
              <a:t>the Court expressing it</a:t>
            </a:r>
          </a:p>
          <a:p>
            <a:pPr algn="just">
              <a:lnSpc>
                <a:spcPct val="150000"/>
              </a:lnSpc>
            </a:pPr>
            <a:r>
              <a:rPr lang="en-US" sz="2000" dirty="0">
                <a:latin typeface="Times New Roman" pitchFamily="18" charset="0"/>
                <a:cs typeface="Times New Roman" pitchFamily="18" charset="0"/>
              </a:rPr>
              <a:t>conclusively determines the rights of the parties with regard to all or any of the matters in controversy in the suit </a:t>
            </a:r>
          </a:p>
          <a:p>
            <a:pPr algn="just">
              <a:lnSpc>
                <a:spcPct val="150000"/>
              </a:lnSpc>
            </a:pPr>
            <a:r>
              <a:rPr lang="en-US" sz="2000" dirty="0">
                <a:latin typeface="Times New Roman" pitchFamily="18" charset="0"/>
                <a:cs typeface="Times New Roman" pitchFamily="18" charset="0"/>
              </a:rPr>
              <a:t>either preliminary or final</a:t>
            </a:r>
          </a:p>
          <a:p>
            <a:pPr algn="just">
              <a:lnSpc>
                <a:spcPct val="150000"/>
              </a:lnSpc>
            </a:pPr>
            <a:r>
              <a:rPr lang="en-US" sz="2000" dirty="0">
                <a:latin typeface="Times New Roman" pitchFamily="18" charset="0"/>
                <a:cs typeface="Times New Roman" pitchFamily="18" charset="0"/>
              </a:rPr>
              <a:t>include the rejection of a plaint and section 144. </a:t>
            </a:r>
          </a:p>
          <a:p>
            <a:pPr algn="just">
              <a:lnSpc>
                <a:spcPct val="150000"/>
              </a:lnSpc>
            </a:pPr>
            <a:r>
              <a:rPr lang="en-US" sz="2000" dirty="0">
                <a:latin typeface="Times New Roman" pitchFamily="18" charset="0"/>
                <a:cs typeface="Times New Roman" pitchFamily="18" charset="0"/>
              </a:rPr>
              <a:t>But shall not include </a:t>
            </a:r>
          </a:p>
          <a:p>
            <a:pPr algn="just">
              <a:lnSpc>
                <a:spcPct val="150000"/>
              </a:lnSpc>
              <a:buNone/>
            </a:pPr>
            <a:r>
              <a:rPr lang="en-US" sz="2000" dirty="0">
                <a:latin typeface="Times New Roman" pitchFamily="18" charset="0"/>
                <a:cs typeface="Times New Roman" pitchFamily="18" charset="0"/>
              </a:rPr>
              <a:t>a) any adjudication from which an appeal lies as an appeal from an order, or</a:t>
            </a:r>
          </a:p>
          <a:p>
            <a:pPr algn="just">
              <a:lnSpc>
                <a:spcPct val="150000"/>
              </a:lnSpc>
              <a:buNone/>
            </a:pPr>
            <a:r>
              <a:rPr lang="en-US" sz="2000" dirty="0">
                <a:latin typeface="Times New Roman" pitchFamily="18" charset="0"/>
                <a:cs typeface="Times New Roman" pitchFamily="18" charset="0"/>
              </a:rPr>
              <a:t> b) any order of dismissal for default.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US" sz="2400" dirty="0">
                <a:latin typeface="Times New Roman" pitchFamily="18" charset="0"/>
                <a:cs typeface="Times New Roman" pitchFamily="18" charset="0"/>
              </a:rPr>
              <a:t>ESSENTIAL ELEMENTS</a:t>
            </a:r>
          </a:p>
        </p:txBody>
      </p:sp>
      <p:sp>
        <p:nvSpPr>
          <p:cNvPr id="3" name="Content Placeholder 2"/>
          <p:cNvSpPr>
            <a:spLocks noGrp="1"/>
          </p:cNvSpPr>
          <p:nvPr>
            <p:ph idx="1"/>
          </p:nvPr>
        </p:nvSpPr>
        <p:spPr>
          <a:xfrm>
            <a:off x="457200" y="914400"/>
            <a:ext cx="8229600" cy="4449763"/>
          </a:xfrm>
        </p:spPr>
        <p:txBody>
          <a:bodyPr>
            <a:noAutofit/>
          </a:bodyPr>
          <a:lstStyle/>
          <a:p>
            <a:pPr marL="457200" indent="-457200" algn="just">
              <a:lnSpc>
                <a:spcPct val="150000"/>
              </a:lnSpc>
              <a:buAutoNum type="arabicPeriod"/>
            </a:pPr>
            <a:r>
              <a:rPr lang="en-US" sz="2000" b="1" dirty="0">
                <a:latin typeface="Times New Roman" pitchFamily="18" charset="0"/>
                <a:cs typeface="Times New Roman" pitchFamily="18" charset="0"/>
              </a:rPr>
              <a:t>There must be an adjudication</a:t>
            </a:r>
            <a:r>
              <a:rPr lang="en-US" sz="2000" dirty="0">
                <a:latin typeface="Times New Roman" pitchFamily="18" charset="0"/>
                <a:cs typeface="Times New Roman" pitchFamily="18" charset="0"/>
              </a:rPr>
              <a:t> </a:t>
            </a:r>
          </a:p>
          <a:p>
            <a:pPr marL="457200" indent="-457200" algn="just">
              <a:lnSpc>
                <a:spcPct val="150000"/>
              </a:lnSpc>
            </a:pPr>
            <a:r>
              <a:rPr lang="en-US" sz="2000" dirty="0">
                <a:latin typeface="Times New Roman" pitchFamily="18" charset="0"/>
                <a:cs typeface="Times New Roman" pitchFamily="18" charset="0"/>
              </a:rPr>
              <a:t>Judicial Determination of the matter in dispute. </a:t>
            </a:r>
          </a:p>
          <a:p>
            <a:pPr marL="457200" indent="-457200" algn="just">
              <a:lnSpc>
                <a:spcPct val="150000"/>
              </a:lnSpc>
            </a:pPr>
            <a:r>
              <a:rPr lang="en-US" sz="2000" dirty="0">
                <a:latin typeface="Times New Roman" pitchFamily="18" charset="0"/>
                <a:cs typeface="Times New Roman" pitchFamily="18" charset="0"/>
              </a:rPr>
              <a:t>For example - dismissing a suit because of default in appearance of the plaintiff is not a decree. But dismissing a suit on merits of the case would be a decree.</a:t>
            </a:r>
          </a:p>
          <a:p>
            <a:pPr marL="457200" indent="-457200" algn="just">
              <a:lnSpc>
                <a:spcPct val="150000"/>
              </a:lnSpc>
              <a:buAutoNum type="arabicPeriod" startAt="2"/>
            </a:pPr>
            <a:r>
              <a:rPr lang="en-US" sz="2000" b="1" dirty="0" smtClean="0">
                <a:latin typeface="Times New Roman" pitchFamily="18" charset="0"/>
                <a:cs typeface="Times New Roman" pitchFamily="18" charset="0"/>
              </a:rPr>
              <a:t>It </a:t>
            </a:r>
            <a:r>
              <a:rPr lang="en-US" sz="2000" b="1" dirty="0">
                <a:latin typeface="Times New Roman" pitchFamily="18" charset="0"/>
                <a:cs typeface="Times New Roman" pitchFamily="18" charset="0"/>
              </a:rPr>
              <a:t>must be in a suit</a:t>
            </a:r>
            <a:r>
              <a:rPr lang="en-US" sz="2000" dirty="0">
                <a:latin typeface="Times New Roman" pitchFamily="18" charset="0"/>
                <a:cs typeface="Times New Roman" pitchFamily="18" charset="0"/>
              </a:rPr>
              <a:t>  </a:t>
            </a:r>
          </a:p>
          <a:p>
            <a:pPr marL="457200" indent="-457200" algn="just">
              <a:lnSpc>
                <a:spcPct val="150000"/>
              </a:lnSpc>
            </a:pPr>
            <a:r>
              <a:rPr lang="en-US" sz="2000" dirty="0">
                <a:latin typeface="Times New Roman" pitchFamily="18" charset="0"/>
                <a:cs typeface="Times New Roman" pitchFamily="18" charset="0"/>
              </a:rPr>
              <a:t>Decree can only be given in relation to a suit. </a:t>
            </a:r>
          </a:p>
          <a:p>
            <a:pPr marL="457200" indent="-457200" algn="just">
              <a:lnSpc>
                <a:spcPct val="150000"/>
              </a:lnSpc>
            </a:pPr>
            <a:r>
              <a:rPr lang="en-US" sz="2000" dirty="0" err="1">
                <a:latin typeface="Times New Roman" pitchFamily="18" charset="0"/>
                <a:cs typeface="Times New Roman" pitchFamily="18" charset="0"/>
              </a:rPr>
              <a:t>Hansraj</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Dehradun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Mussoorie</a:t>
            </a:r>
            <a:r>
              <a:rPr lang="en-US" sz="2000" dirty="0">
                <a:latin typeface="Times New Roman" pitchFamily="18" charset="0"/>
                <a:cs typeface="Times New Roman" pitchFamily="18" charset="0"/>
              </a:rPr>
              <a:t> Tramways Co. Ltd. AIR 1933, - the term suit as "a civil proceeding instituted by the presentation of a plaint".</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11792"/>
            <a:ext cx="8229600" cy="5912807"/>
          </a:xfrm>
        </p:spPr>
        <p:txBody>
          <a:bodyPr>
            <a:noAutofit/>
          </a:bodyPr>
          <a:lstStyle/>
          <a:p>
            <a:pPr algn="just">
              <a:buNone/>
            </a:pPr>
            <a:r>
              <a:rPr lang="en-US" sz="1900" dirty="0">
                <a:latin typeface="Times New Roman" pitchFamily="18" charset="0"/>
                <a:cs typeface="Times New Roman" pitchFamily="18" charset="0"/>
              </a:rPr>
              <a:t>3.</a:t>
            </a:r>
            <a:r>
              <a:rPr lang="en-US" sz="1900" b="1" dirty="0">
                <a:latin typeface="Times New Roman" pitchFamily="18" charset="0"/>
                <a:cs typeface="Times New Roman" pitchFamily="18" charset="0"/>
              </a:rPr>
              <a:t> Rights of the parties </a:t>
            </a:r>
          </a:p>
          <a:p>
            <a:pPr algn="just"/>
            <a:r>
              <a:rPr lang="en-US" sz="1900" dirty="0">
                <a:latin typeface="Times New Roman" pitchFamily="18" charset="0"/>
                <a:cs typeface="Times New Roman" pitchFamily="18" charset="0"/>
              </a:rPr>
              <a:t>The adjudication in any or all of the matters in controversy in the suit. </a:t>
            </a:r>
          </a:p>
          <a:p>
            <a:pPr algn="just">
              <a:buNone/>
            </a:pPr>
            <a:endParaRPr lang="en-US"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The word right means substantive rights and not merely procedural rights. </a:t>
            </a:r>
          </a:p>
          <a:p>
            <a:pPr algn="just">
              <a:buNone/>
            </a:pPr>
            <a:endParaRPr lang="en-US"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For example, an order refusing leave to sue in forma </a:t>
            </a:r>
            <a:r>
              <a:rPr lang="en-US" sz="1900" dirty="0" err="1">
                <a:latin typeface="Times New Roman" pitchFamily="18" charset="0"/>
                <a:cs typeface="Times New Roman" pitchFamily="18" charset="0"/>
              </a:rPr>
              <a:t>pauperis</a:t>
            </a:r>
            <a:r>
              <a:rPr lang="en-US" sz="1900" dirty="0">
                <a:latin typeface="Times New Roman" pitchFamily="18" charset="0"/>
                <a:cs typeface="Times New Roman" pitchFamily="18" charset="0"/>
              </a:rPr>
              <a:t> is not a decree because it does not determine the right of the party.</a:t>
            </a:r>
          </a:p>
          <a:p>
            <a:pPr algn="just">
              <a:buNone/>
            </a:pPr>
            <a:endParaRPr lang="en-US" sz="1900" dirty="0">
              <a:latin typeface="Times New Roman" pitchFamily="18" charset="0"/>
              <a:cs typeface="Times New Roman" pitchFamily="18" charset="0"/>
            </a:endParaRPr>
          </a:p>
          <a:p>
            <a:pPr algn="just">
              <a:buNone/>
            </a:pPr>
            <a:r>
              <a:rPr lang="en-US" sz="1900" dirty="0">
                <a:latin typeface="Times New Roman" pitchFamily="18" charset="0"/>
                <a:cs typeface="Times New Roman" pitchFamily="18" charset="0"/>
              </a:rPr>
              <a:t>4.</a:t>
            </a:r>
            <a:r>
              <a:rPr lang="en-US" sz="1900" b="1" dirty="0">
                <a:latin typeface="Times New Roman" pitchFamily="18" charset="0"/>
                <a:cs typeface="Times New Roman" pitchFamily="18" charset="0"/>
              </a:rPr>
              <a:t> Conclusive Determination</a:t>
            </a:r>
            <a:r>
              <a:rPr lang="en-US" sz="1900" dirty="0">
                <a:latin typeface="Times New Roman" pitchFamily="18" charset="0"/>
                <a:cs typeface="Times New Roman" pitchFamily="18" charset="0"/>
              </a:rPr>
              <a:t> </a:t>
            </a:r>
          </a:p>
          <a:p>
            <a:pPr algn="just">
              <a:buNone/>
            </a:pPr>
            <a:endParaRPr lang="en-US"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The determination of the right must be conclusive [issue resolved]. </a:t>
            </a:r>
            <a:br>
              <a:rPr lang="en-US" sz="1900" dirty="0">
                <a:latin typeface="Times New Roman" pitchFamily="18" charset="0"/>
                <a:cs typeface="Times New Roman" pitchFamily="18" charset="0"/>
              </a:rPr>
            </a:br>
            <a:endParaRPr lang="en-US" sz="1900" dirty="0">
              <a:latin typeface="Times New Roman" pitchFamily="18" charset="0"/>
              <a:cs typeface="Times New Roman" pitchFamily="18" charset="0"/>
            </a:endParaRPr>
          </a:p>
          <a:p>
            <a:pPr algn="just">
              <a:buNone/>
            </a:pPr>
            <a:r>
              <a:rPr lang="en-US" sz="1900" dirty="0">
                <a:latin typeface="Times New Roman" pitchFamily="18" charset="0"/>
                <a:cs typeface="Times New Roman" pitchFamily="18" charset="0"/>
              </a:rPr>
              <a:t>5. </a:t>
            </a:r>
            <a:r>
              <a:rPr lang="en-US" sz="1900" b="1" dirty="0">
                <a:latin typeface="Times New Roman" pitchFamily="18" charset="0"/>
                <a:cs typeface="Times New Roman" pitchFamily="18" charset="0"/>
              </a:rPr>
              <a:t>Formal expression</a:t>
            </a:r>
          </a:p>
          <a:p>
            <a:pPr algn="just">
              <a:buNone/>
            </a:pPr>
            <a:endParaRPr lang="en-US"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To be a decree, the court must formally express its decision in the manner provided by law. </a:t>
            </a:r>
          </a:p>
          <a:p>
            <a:pPr algn="just">
              <a:buNone/>
            </a:pPr>
            <a:endParaRPr lang="en-US"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A mere comment of the judge cannot be a decree. </a:t>
            </a:r>
          </a:p>
          <a:p>
            <a:pPr algn="just"/>
            <a:r>
              <a:rPr lang="en-US" sz="1900" dirty="0">
                <a:latin typeface="Times New Roman" pitchFamily="18" charset="0"/>
                <a:cs typeface="Times New Roman" pitchFamily="18" charset="0"/>
              </a:rPr>
              <a:t/>
            </a:r>
            <a:br>
              <a:rPr lang="en-US" sz="1900" dirty="0">
                <a:latin typeface="Times New Roman" pitchFamily="18" charset="0"/>
                <a:cs typeface="Times New Roman" pitchFamily="18" charset="0"/>
              </a:rPr>
            </a:br>
            <a:r>
              <a:rPr lang="en-US" sz="1900" dirty="0">
                <a:latin typeface="Times New Roman" pitchFamily="18" charset="0"/>
                <a:cs typeface="Times New Roman" pitchFamily="18" charset="0"/>
              </a:rPr>
              <a:t/>
            </a:r>
            <a:br>
              <a:rPr lang="en-US" sz="1900" dirty="0">
                <a:latin typeface="Times New Roman" pitchFamily="18" charset="0"/>
                <a:cs typeface="Times New Roman" pitchFamily="18" charset="0"/>
              </a:rPr>
            </a:br>
            <a:endParaRPr lang="en-US" sz="1900" dirty="0">
              <a:latin typeface="Times New Roman" pitchFamily="18" charset="0"/>
              <a:cs typeface="Times New Roman" pitchFamily="18" charset="0"/>
            </a:endParaRPr>
          </a:p>
          <a:p>
            <a:pPr algn="just"/>
            <a:endParaRPr lang="en-US" sz="19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lgn="just">
              <a:buNone/>
            </a:pPr>
            <a:r>
              <a:rPr lang="en-US" sz="2000" b="1" dirty="0">
                <a:latin typeface="Times New Roman" pitchFamily="18" charset="0"/>
                <a:cs typeface="Times New Roman" pitchFamily="18" charset="0"/>
              </a:rPr>
              <a:t>Decisions which are decrees:</a:t>
            </a:r>
          </a:p>
          <a:p>
            <a:pPr marL="457200" indent="-457200" algn="just">
              <a:buAutoNum type="arabicPeriod"/>
            </a:pPr>
            <a:r>
              <a:rPr lang="en-US" sz="2000" dirty="0">
                <a:latin typeface="Times New Roman" pitchFamily="18" charset="0"/>
                <a:cs typeface="Times New Roman" pitchFamily="18" charset="0"/>
              </a:rPr>
              <a:t>Order of abatement of suit</a:t>
            </a:r>
          </a:p>
          <a:p>
            <a:pPr marL="457200" indent="-457200" algn="just">
              <a:buAutoNum type="arabicPeriod"/>
            </a:pPr>
            <a:r>
              <a:rPr lang="en-US" sz="2000" dirty="0">
                <a:latin typeface="Times New Roman" pitchFamily="18" charset="0"/>
                <a:cs typeface="Times New Roman" pitchFamily="18" charset="0"/>
              </a:rPr>
              <a:t>Dismissal of appeal as time barred</a:t>
            </a:r>
          </a:p>
          <a:p>
            <a:pPr marL="457200" indent="-457200" algn="just">
              <a:buAutoNum type="arabicPeriod"/>
            </a:pPr>
            <a:r>
              <a:rPr lang="en-US" sz="2000" dirty="0">
                <a:latin typeface="Times New Roman" pitchFamily="18" charset="0"/>
                <a:cs typeface="Times New Roman" pitchFamily="18" charset="0"/>
              </a:rPr>
              <a:t>Dismissal of suit or appeal for want of evidence or proof</a:t>
            </a:r>
          </a:p>
          <a:p>
            <a:pPr marL="457200" indent="-457200" algn="just">
              <a:buNone/>
            </a:pPr>
            <a:endParaRPr lang="en-US" sz="2000" dirty="0">
              <a:latin typeface="Times New Roman" pitchFamily="18" charset="0"/>
              <a:cs typeface="Times New Roman" pitchFamily="18" charset="0"/>
            </a:endParaRPr>
          </a:p>
          <a:p>
            <a:pPr marL="457200" indent="-457200" algn="just">
              <a:buNone/>
            </a:pPr>
            <a:r>
              <a:rPr lang="en-US" sz="2000" b="1" dirty="0">
                <a:latin typeface="Times New Roman" pitchFamily="18" charset="0"/>
                <a:cs typeface="Times New Roman" pitchFamily="18" charset="0"/>
              </a:rPr>
              <a:t>Decisions which are not decrees:</a:t>
            </a:r>
          </a:p>
          <a:p>
            <a:pPr marL="457200" indent="-457200" algn="just">
              <a:buAutoNum type="arabicPeriod"/>
            </a:pPr>
            <a:r>
              <a:rPr lang="en-US" sz="2000" dirty="0">
                <a:latin typeface="Times New Roman" pitchFamily="18" charset="0"/>
                <a:cs typeface="Times New Roman" pitchFamily="18" charset="0"/>
              </a:rPr>
              <a:t>Dismissal of appeal for default</a:t>
            </a:r>
          </a:p>
          <a:p>
            <a:pPr marL="457200" indent="-457200" algn="just">
              <a:buAutoNum type="arabicPeriod"/>
            </a:pPr>
            <a:r>
              <a:rPr lang="en-US" sz="2000" dirty="0">
                <a:latin typeface="Times New Roman" pitchFamily="18" charset="0"/>
                <a:cs typeface="Times New Roman" pitchFamily="18" charset="0"/>
              </a:rPr>
              <a:t>Appointment of commissioner to take accounts</a:t>
            </a:r>
          </a:p>
          <a:p>
            <a:pPr marL="457200" indent="-457200" algn="just">
              <a:buAutoNum type="arabicPeriod"/>
            </a:pPr>
            <a:r>
              <a:rPr lang="en-US" sz="2000" dirty="0">
                <a:latin typeface="Times New Roman" pitchFamily="18" charset="0"/>
                <a:cs typeface="Times New Roman" pitchFamily="18" charset="0"/>
              </a:rPr>
              <a:t>Order of remand</a:t>
            </a:r>
          </a:p>
          <a:p>
            <a:pPr marL="457200" indent="-457200" algn="just">
              <a:buAutoNum type="arabicPeriod"/>
            </a:pPr>
            <a:r>
              <a:rPr lang="en-US" sz="2000" dirty="0">
                <a:latin typeface="Times New Roman" pitchFamily="18" charset="0"/>
                <a:cs typeface="Times New Roman" pitchFamily="18" charset="0"/>
              </a:rPr>
              <a:t>Order of granting interim relief</a:t>
            </a:r>
          </a:p>
          <a:p>
            <a:pPr marL="457200" indent="-457200" algn="just">
              <a:buAutoNum type="arabicPeriod"/>
            </a:pPr>
            <a:r>
              <a:rPr lang="en-US" sz="2000" dirty="0">
                <a:latin typeface="Times New Roman" pitchFamily="18" charset="0"/>
                <a:cs typeface="Times New Roman" pitchFamily="18" charset="0"/>
              </a:rPr>
              <a:t>Return of plaint for presentation to proper court</a:t>
            </a:r>
          </a:p>
          <a:p>
            <a:pPr marL="457200" indent="-457200" algn="just">
              <a:buAutoNum type="arabicPeriod"/>
            </a:pPr>
            <a:endParaRPr lang="en-US"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2400" dirty="0">
                <a:latin typeface="Times New Roman" pitchFamily="18" charset="0"/>
                <a:cs typeface="Times New Roman" pitchFamily="18" charset="0"/>
              </a:rPr>
              <a:t>Kinds of decree</a:t>
            </a:r>
          </a:p>
        </p:txBody>
      </p:sp>
      <p:sp>
        <p:nvSpPr>
          <p:cNvPr id="3" name="Content Placeholder 2"/>
          <p:cNvSpPr>
            <a:spLocks noGrp="1"/>
          </p:cNvSpPr>
          <p:nvPr>
            <p:ph idx="1"/>
          </p:nvPr>
        </p:nvSpPr>
        <p:spPr>
          <a:xfrm>
            <a:off x="457200" y="1295400"/>
            <a:ext cx="8229600" cy="4830763"/>
          </a:xfrm>
        </p:spPr>
        <p:txBody>
          <a:bodyPr>
            <a:normAutofit/>
          </a:bodyPr>
          <a:lstStyle/>
          <a:p>
            <a:pPr marL="457200" indent="-457200" algn="just">
              <a:buAutoNum type="arabicPeriod"/>
            </a:pPr>
            <a:r>
              <a:rPr lang="en-US" sz="2000" dirty="0">
                <a:latin typeface="Times New Roman" pitchFamily="18" charset="0"/>
                <a:cs typeface="Times New Roman" pitchFamily="18" charset="0"/>
              </a:rPr>
              <a:t>Preliminary decree</a:t>
            </a:r>
          </a:p>
          <a:p>
            <a:pPr marL="457200" indent="-457200" algn="just">
              <a:buAutoNum type="arabicPeriod"/>
            </a:pPr>
            <a:r>
              <a:rPr lang="en-US" sz="2000" dirty="0">
                <a:latin typeface="Times New Roman" pitchFamily="18" charset="0"/>
                <a:cs typeface="Times New Roman" pitchFamily="18" charset="0"/>
              </a:rPr>
              <a:t>Final decree</a:t>
            </a:r>
          </a:p>
          <a:p>
            <a:pPr marL="457200" indent="-457200" algn="just">
              <a:buAutoNum type="arabicPeriod"/>
            </a:pPr>
            <a:r>
              <a:rPr lang="en-US" sz="2000" dirty="0">
                <a:latin typeface="Times New Roman" pitchFamily="18" charset="0"/>
                <a:cs typeface="Times New Roman" pitchFamily="18" charset="0"/>
              </a:rPr>
              <a:t>Partly preliminary and partly final decree</a:t>
            </a:r>
          </a:p>
          <a:p>
            <a:pPr marL="457200" indent="-457200" algn="just">
              <a:buAutoNum type="arabicPeriod"/>
            </a:pPr>
            <a:endParaRPr lang="en-US" sz="2000" u="sng" dirty="0">
              <a:latin typeface="Times New Roman" pitchFamily="18" charset="0"/>
              <a:cs typeface="Times New Roman" pitchFamily="18" charset="0"/>
            </a:endParaRPr>
          </a:p>
          <a:p>
            <a:pPr marL="457200" indent="-457200" algn="just">
              <a:buNone/>
            </a:pPr>
            <a:r>
              <a:rPr lang="en-US" sz="2000" u="sng" dirty="0">
                <a:latin typeface="Times New Roman" pitchFamily="18" charset="0"/>
                <a:cs typeface="Times New Roman" pitchFamily="18" charset="0"/>
              </a:rPr>
              <a:t>Preliminary decree</a:t>
            </a:r>
          </a:p>
          <a:p>
            <a:pPr algn="just"/>
            <a:r>
              <a:rPr lang="en-US" sz="2000" dirty="0">
                <a:latin typeface="Times New Roman" pitchFamily="18" charset="0"/>
                <a:cs typeface="Times New Roman" pitchFamily="18" charset="0"/>
              </a:rPr>
              <a:t>Adjudication decides the rights of the parties with regard to all or any of the matters in controversy in the suit but does not completely dispose of the suit, it is a preliminary decree. </a:t>
            </a:r>
          </a:p>
          <a:p>
            <a:pPr algn="just"/>
            <a:r>
              <a:rPr lang="en-US" sz="2000" dirty="0">
                <a:latin typeface="Times New Roman" pitchFamily="18" charset="0"/>
                <a:cs typeface="Times New Roman" pitchFamily="18" charset="0"/>
              </a:rPr>
              <a:t>In Shankar </a:t>
            </a:r>
            <a:r>
              <a:rPr lang="en-US" sz="2000" dirty="0" err="1">
                <a:latin typeface="Times New Roman" pitchFamily="18" charset="0"/>
                <a:cs typeface="Times New Roman" pitchFamily="18" charset="0"/>
              </a:rPr>
              <a:t>vs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Chandrakant</a:t>
            </a:r>
            <a:r>
              <a:rPr lang="en-US" sz="2000" dirty="0">
                <a:latin typeface="Times New Roman" pitchFamily="18" charset="0"/>
                <a:cs typeface="Times New Roman" pitchFamily="18" charset="0"/>
              </a:rPr>
              <a:t> SCC 1995, SC stated that a preliminary decree is one which declares the rights and liabilities of the parties leaving the actual result to be worked out in further proceedings.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normAutofit/>
          </a:bodyPr>
          <a:lstStyle/>
          <a:p>
            <a:pPr marL="457200" indent="-457200" algn="just">
              <a:buNone/>
            </a:pPr>
            <a:r>
              <a:rPr lang="en-US" sz="2000" u="sng" dirty="0">
                <a:latin typeface="Times New Roman" pitchFamily="18" charset="0"/>
                <a:cs typeface="Times New Roman" pitchFamily="18" charset="0"/>
              </a:rPr>
              <a:t>Examples for Preliminary decree</a:t>
            </a:r>
          </a:p>
          <a:p>
            <a:pPr marL="457200" indent="-457200" algn="just">
              <a:buNone/>
            </a:pPr>
            <a:endParaRPr lang="en-US" sz="2000" u="sng" dirty="0">
              <a:latin typeface="Times New Roman" pitchFamily="18" charset="0"/>
              <a:cs typeface="Times New Roman" pitchFamily="18" charset="0"/>
            </a:endParaRPr>
          </a:p>
          <a:p>
            <a:pPr marL="457200" indent="-457200" algn="just">
              <a:lnSpc>
                <a:spcPct val="150000"/>
              </a:lnSpc>
              <a:buFont typeface="+mj-lt"/>
              <a:buAutoNum type="arabicPeriod"/>
            </a:pPr>
            <a:r>
              <a:rPr lang="en-US" sz="2000" dirty="0">
                <a:latin typeface="Times New Roman" pitchFamily="18" charset="0"/>
                <a:cs typeface="Times New Roman" pitchFamily="18" charset="0"/>
              </a:rPr>
              <a:t>Suit for possession and </a:t>
            </a:r>
            <a:r>
              <a:rPr lang="en-US" sz="2000" dirty="0" err="1">
                <a:latin typeface="Times New Roman" pitchFamily="18" charset="0"/>
                <a:cs typeface="Times New Roman" pitchFamily="18" charset="0"/>
              </a:rPr>
              <a:t>mesne</a:t>
            </a:r>
            <a:r>
              <a:rPr lang="en-US" sz="2000" dirty="0">
                <a:latin typeface="Times New Roman" pitchFamily="18" charset="0"/>
                <a:cs typeface="Times New Roman" pitchFamily="18" charset="0"/>
              </a:rPr>
              <a:t> profit</a:t>
            </a:r>
          </a:p>
          <a:p>
            <a:pPr marL="457200" indent="-457200" algn="just">
              <a:lnSpc>
                <a:spcPct val="150000"/>
              </a:lnSpc>
              <a:buFont typeface="+mj-lt"/>
              <a:buAutoNum type="arabicPeriod"/>
            </a:pPr>
            <a:r>
              <a:rPr lang="en-US" sz="2000" dirty="0">
                <a:latin typeface="Times New Roman" pitchFamily="18" charset="0"/>
                <a:cs typeface="Times New Roman" pitchFamily="18" charset="0"/>
              </a:rPr>
              <a:t>Administration suit</a:t>
            </a:r>
          </a:p>
          <a:p>
            <a:pPr marL="457200" indent="-457200" algn="just">
              <a:lnSpc>
                <a:spcPct val="150000"/>
              </a:lnSpc>
              <a:buFont typeface="+mj-lt"/>
              <a:buAutoNum type="arabicPeriod"/>
            </a:pPr>
            <a:r>
              <a:rPr lang="en-US" sz="2000" dirty="0">
                <a:latin typeface="Times New Roman" pitchFamily="18" charset="0"/>
                <a:cs typeface="Times New Roman" pitchFamily="18" charset="0"/>
              </a:rPr>
              <a:t>Suit for dissolution of partnership</a:t>
            </a:r>
          </a:p>
          <a:p>
            <a:pPr marL="457200" indent="-457200" algn="just">
              <a:lnSpc>
                <a:spcPct val="150000"/>
              </a:lnSpc>
              <a:buFont typeface="+mj-lt"/>
              <a:buAutoNum type="arabicPeriod"/>
            </a:pPr>
            <a:r>
              <a:rPr lang="en-US" sz="2000" dirty="0">
                <a:latin typeface="Times New Roman" pitchFamily="18" charset="0"/>
                <a:cs typeface="Times New Roman" pitchFamily="18" charset="0"/>
              </a:rPr>
              <a:t>Suit for accounts between principal and agent </a:t>
            </a:r>
          </a:p>
          <a:p>
            <a:pPr marL="457200" indent="-457200" algn="just">
              <a:lnSpc>
                <a:spcPct val="150000"/>
              </a:lnSpc>
              <a:buFont typeface="+mj-lt"/>
              <a:buAutoNum type="arabicPeriod"/>
            </a:pPr>
            <a:r>
              <a:rPr lang="en-US" sz="2000" dirty="0">
                <a:latin typeface="Times New Roman" pitchFamily="18" charset="0"/>
                <a:cs typeface="Times New Roman" pitchFamily="18" charset="0"/>
              </a:rPr>
              <a:t>Suit for partition</a:t>
            </a:r>
          </a:p>
          <a:p>
            <a:pPr marL="0" indent="0" algn="just">
              <a:buNone/>
            </a:pPr>
            <a:endParaRPr lang="en-US" sz="20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Autofit/>
          </a:bodyPr>
          <a:lstStyle/>
          <a:p>
            <a:pPr algn="just">
              <a:lnSpc>
                <a:spcPct val="170000"/>
              </a:lnSpc>
              <a:buNone/>
            </a:pPr>
            <a:r>
              <a:rPr lang="en-US" sz="2000" u="sng" dirty="0">
                <a:latin typeface="Times New Roman" pitchFamily="18" charset="0"/>
                <a:cs typeface="Times New Roman" pitchFamily="18" charset="0"/>
              </a:rPr>
              <a:t>Final decree</a:t>
            </a:r>
          </a:p>
          <a:p>
            <a:pPr algn="just">
              <a:lnSpc>
                <a:spcPct val="170000"/>
              </a:lnSpc>
            </a:pPr>
            <a:r>
              <a:rPr lang="en-US" sz="2000" dirty="0">
                <a:latin typeface="Times New Roman" pitchFamily="18" charset="0"/>
                <a:cs typeface="Times New Roman" pitchFamily="18" charset="0"/>
              </a:rPr>
              <a:t>When the decree disposes of the suit completely, so far as the court passing it is concerned, it is a final decree. </a:t>
            </a:r>
          </a:p>
          <a:p>
            <a:pPr algn="just">
              <a:lnSpc>
                <a:spcPct val="170000"/>
              </a:lnSpc>
            </a:pPr>
            <a:r>
              <a:rPr lang="en-US" sz="2000" dirty="0">
                <a:latin typeface="Times New Roman" pitchFamily="18" charset="0"/>
                <a:cs typeface="Times New Roman" pitchFamily="18" charset="0"/>
              </a:rPr>
              <a:t>A final decree settles all the issues and controversies in the suit.</a:t>
            </a:r>
          </a:p>
          <a:p>
            <a:pPr algn="just">
              <a:lnSpc>
                <a:spcPct val="170000"/>
              </a:lnSpc>
              <a:buNone/>
            </a:pPr>
            <a:r>
              <a:rPr lang="en-US" sz="2000" u="sng" dirty="0">
                <a:latin typeface="Times New Roman" pitchFamily="18" charset="0"/>
                <a:cs typeface="Times New Roman" pitchFamily="18" charset="0"/>
              </a:rPr>
              <a:t>Party preliminary and partly final decree</a:t>
            </a:r>
          </a:p>
          <a:p>
            <a:pPr algn="just">
              <a:lnSpc>
                <a:spcPct val="170000"/>
              </a:lnSpc>
            </a:pPr>
            <a:r>
              <a:rPr lang="en-US" sz="2000" dirty="0">
                <a:latin typeface="Times New Roman" pitchFamily="18" charset="0"/>
                <a:cs typeface="Times New Roman" pitchFamily="18" charset="0"/>
              </a:rPr>
              <a:t>When a decree resolves some issues but leaves the rest open for further decision, such a decree is partly final and party preliminary. </a:t>
            </a:r>
          </a:p>
          <a:p>
            <a:pPr algn="just">
              <a:lnSpc>
                <a:spcPct val="170000"/>
              </a:lnSpc>
            </a:pPr>
            <a:r>
              <a:rPr lang="en-US" sz="2000" dirty="0">
                <a:latin typeface="Times New Roman" pitchFamily="18" charset="0"/>
                <a:cs typeface="Times New Roman" pitchFamily="18" charset="0"/>
              </a:rPr>
              <a:t>For example, in a suit for possession of immovable property with </a:t>
            </a:r>
            <a:r>
              <a:rPr lang="en-US" sz="2000" dirty="0" err="1">
                <a:latin typeface="Times New Roman" pitchFamily="18" charset="0"/>
                <a:cs typeface="Times New Roman" pitchFamily="18" charset="0"/>
              </a:rPr>
              <a:t>mesne</a:t>
            </a:r>
            <a:r>
              <a:rPr lang="en-US" sz="2000" dirty="0">
                <a:latin typeface="Times New Roman" pitchFamily="18" charset="0"/>
                <a:cs typeface="Times New Roman" pitchFamily="18" charset="0"/>
              </a:rPr>
              <a:t> profits, where the court decrees possession of the property and directs an enquiry into the </a:t>
            </a:r>
            <a:r>
              <a:rPr lang="en-US" sz="2000" dirty="0" err="1">
                <a:latin typeface="Times New Roman" pitchFamily="18" charset="0"/>
                <a:cs typeface="Times New Roman" pitchFamily="18" charset="0"/>
              </a:rPr>
              <a:t>mesne</a:t>
            </a:r>
            <a:r>
              <a:rPr lang="en-US" sz="2000" dirty="0">
                <a:latin typeface="Times New Roman" pitchFamily="18" charset="0"/>
                <a:cs typeface="Times New Roman" pitchFamily="18" charset="0"/>
              </a:rPr>
              <a:t> profits, the former part of the decree is final but the latter part is preliminary.</a:t>
            </a:r>
          </a:p>
          <a:p>
            <a:pPr algn="just">
              <a:lnSpc>
                <a:spcPct val="170000"/>
              </a:lnSpc>
              <a:buNone/>
            </a:pP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a:p>
            <a:pPr algn="just">
              <a:lnSpc>
                <a:spcPct val="170000"/>
              </a:lnSpc>
            </a:pPr>
            <a:endParaRPr 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algn="just">
              <a:lnSpc>
                <a:spcPct val="150000"/>
              </a:lnSpc>
              <a:buNone/>
            </a:pPr>
            <a:r>
              <a:rPr lang="en-US" sz="2000" u="sng" dirty="0">
                <a:latin typeface="Times New Roman" pitchFamily="18" charset="0"/>
                <a:cs typeface="Times New Roman" pitchFamily="18" charset="0"/>
              </a:rPr>
              <a:t>Deemed Decree</a:t>
            </a:r>
            <a:r>
              <a:rPr lang="en-US" sz="2000" dirty="0">
                <a:latin typeface="Times New Roman" pitchFamily="18" charset="0"/>
                <a:cs typeface="Times New Roman" pitchFamily="18" charset="0"/>
              </a:rPr>
              <a:t> </a:t>
            </a:r>
          </a:p>
          <a:p>
            <a:pPr algn="just">
              <a:lnSpc>
                <a:spcPct val="150000"/>
              </a:lnSpc>
            </a:pPr>
            <a:r>
              <a:rPr lang="en-US" sz="2000" dirty="0">
                <a:latin typeface="Times New Roman" pitchFamily="18" charset="0"/>
                <a:cs typeface="Times New Roman" pitchFamily="18" charset="0"/>
              </a:rPr>
              <a:t>The word "deemed" usually implies a fiction whereby a thing is assumed to be something that it is ordinarily not. </a:t>
            </a:r>
          </a:p>
          <a:p>
            <a:pPr algn="just">
              <a:lnSpc>
                <a:spcPct val="150000"/>
              </a:lnSpc>
            </a:pPr>
            <a:r>
              <a:rPr lang="en-US" sz="2000" dirty="0">
                <a:latin typeface="Times New Roman" pitchFamily="18" charset="0"/>
                <a:cs typeface="Times New Roman" pitchFamily="18" charset="0"/>
              </a:rPr>
              <a:t>In this case, an adjudication that does not fulfill the requisites of S. 2 (2) cannot be said to be a decree. However, certain orders and determinations are deemed to be decrees under the code. </a:t>
            </a:r>
          </a:p>
          <a:p>
            <a:pPr algn="just">
              <a:lnSpc>
                <a:spcPct val="150000"/>
              </a:lnSpc>
            </a:pPr>
            <a:r>
              <a:rPr lang="en-US" sz="2000" dirty="0">
                <a:latin typeface="Times New Roman" pitchFamily="18" charset="0"/>
                <a:cs typeface="Times New Roman" pitchFamily="18" charset="0"/>
              </a:rPr>
              <a:t>For example, rejection of a plaint and the determination of questions under S. 144 (Restitution) are deemed decrees.</a:t>
            </a:r>
          </a:p>
          <a:p>
            <a:pPr algn="just">
              <a:lnSpc>
                <a:spcPct val="150000"/>
              </a:lnSpc>
              <a:buNone/>
            </a:pP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a:p>
            <a:pPr algn="just">
              <a:lnSpc>
                <a:spcPct val="150000"/>
              </a:lnSpc>
            </a:pPr>
            <a:endParaRPr lang="en-US" sz="2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2400" b="1" dirty="0">
                <a:latin typeface="Times New Roman" pitchFamily="18" charset="0"/>
                <a:cs typeface="Times New Roman" pitchFamily="18" charset="0"/>
              </a:rPr>
              <a:t>ORDER 2(14)</a:t>
            </a:r>
            <a:r>
              <a:rPr lang="en-US" dirty="0"/>
              <a:t> </a:t>
            </a:r>
          </a:p>
        </p:txBody>
      </p:sp>
      <p:sp>
        <p:nvSpPr>
          <p:cNvPr id="3" name="Content Placeholder 2"/>
          <p:cNvSpPr>
            <a:spLocks noGrp="1"/>
          </p:cNvSpPr>
          <p:nvPr>
            <p:ph idx="1"/>
          </p:nvPr>
        </p:nvSpPr>
        <p:spPr>
          <a:xfrm>
            <a:off x="457200" y="914400"/>
            <a:ext cx="8229600" cy="5211763"/>
          </a:xfrm>
        </p:spPr>
        <p:txBody>
          <a:bodyPr>
            <a:normAutofit fontScale="92500"/>
          </a:bodyPr>
          <a:lstStyle/>
          <a:p>
            <a:pPr algn="just">
              <a:lnSpc>
                <a:spcPct val="150000"/>
              </a:lnSpc>
              <a:buNone/>
            </a:pPr>
            <a:r>
              <a:rPr lang="en-US" sz="2000" dirty="0">
                <a:latin typeface="Times New Roman" pitchFamily="18" charset="0"/>
                <a:cs typeface="Times New Roman" pitchFamily="18" charset="0"/>
              </a:rPr>
              <a:t>Order</a:t>
            </a:r>
          </a:p>
          <a:p>
            <a:pPr algn="just">
              <a:lnSpc>
                <a:spcPct val="150000"/>
              </a:lnSpc>
            </a:pPr>
            <a:r>
              <a:rPr lang="en-US" sz="2000" dirty="0">
                <a:latin typeface="Times New Roman" pitchFamily="18" charset="0"/>
                <a:cs typeface="Times New Roman" pitchFamily="18" charset="0"/>
              </a:rPr>
              <a:t> The formal expression of any decision of a civil court which is not a decree</a:t>
            </a:r>
          </a:p>
          <a:p>
            <a:pPr algn="just">
              <a:lnSpc>
                <a:spcPct val="150000"/>
              </a:lnSpc>
            </a:pPr>
            <a:r>
              <a:rPr lang="en-US" sz="2000" dirty="0">
                <a:latin typeface="Times New Roman" pitchFamily="18" charset="0"/>
                <a:cs typeface="Times New Roman" pitchFamily="18" charset="0"/>
              </a:rPr>
              <a:t>Thus the adjudication of a court which is not a decree is an order.</a:t>
            </a:r>
          </a:p>
          <a:p>
            <a:pPr algn="just">
              <a:lnSpc>
                <a:spcPct val="150000"/>
              </a:lnSpc>
            </a:pPr>
            <a:r>
              <a:rPr lang="en-US" sz="2000" dirty="0">
                <a:latin typeface="Times New Roman" pitchFamily="18" charset="0"/>
                <a:cs typeface="Times New Roman" pitchFamily="18" charset="0"/>
              </a:rPr>
              <a:t>The adjudication of a court of law may either be (a) a decree or (b) an order and cannot be both. </a:t>
            </a:r>
          </a:p>
          <a:p>
            <a:pPr algn="just">
              <a:lnSpc>
                <a:spcPct val="150000"/>
              </a:lnSpc>
              <a:buNone/>
            </a:pPr>
            <a:r>
              <a:rPr lang="en-US" sz="2000" u="sng" dirty="0">
                <a:latin typeface="Times New Roman" pitchFamily="18" charset="0"/>
                <a:cs typeface="Times New Roman" pitchFamily="18" charset="0"/>
              </a:rPr>
              <a:t>Order and decree - Similarities</a:t>
            </a:r>
          </a:p>
          <a:p>
            <a:pPr algn="just">
              <a:lnSpc>
                <a:spcPct val="150000"/>
              </a:lnSpc>
              <a:buNone/>
            </a:pPr>
            <a:r>
              <a:rPr lang="en-US" sz="2000" dirty="0">
                <a:latin typeface="Times New Roman" pitchFamily="18" charset="0"/>
                <a:cs typeface="Times New Roman" pitchFamily="18" charset="0"/>
              </a:rPr>
              <a:t>     (1) both relate to matters in controversy</a:t>
            </a:r>
          </a:p>
          <a:p>
            <a:pPr algn="just">
              <a:lnSpc>
                <a:spcPct val="150000"/>
              </a:lnSpc>
              <a:buNone/>
            </a:pPr>
            <a:r>
              <a:rPr lang="en-US" sz="2000" dirty="0">
                <a:latin typeface="Times New Roman" pitchFamily="18" charset="0"/>
                <a:cs typeface="Times New Roman" pitchFamily="18" charset="0"/>
              </a:rPr>
              <a:t>     (2) both are decisions given by a court </a:t>
            </a:r>
          </a:p>
          <a:p>
            <a:pPr algn="just">
              <a:lnSpc>
                <a:spcPct val="150000"/>
              </a:lnSpc>
              <a:buNone/>
            </a:pPr>
            <a:r>
              <a:rPr lang="en-US" sz="2000" dirty="0">
                <a:latin typeface="Times New Roman" pitchFamily="18" charset="0"/>
                <a:cs typeface="Times New Roman" pitchFamily="18" charset="0"/>
              </a:rPr>
              <a:t>     (3) both are adjudications of a court of law </a:t>
            </a:r>
          </a:p>
          <a:p>
            <a:pPr algn="just">
              <a:lnSpc>
                <a:spcPct val="150000"/>
              </a:lnSpc>
              <a:buNone/>
            </a:pPr>
            <a:r>
              <a:rPr lang="en-US" sz="2000" dirty="0">
                <a:latin typeface="Times New Roman" pitchFamily="18" charset="0"/>
                <a:cs typeface="Times New Roman" pitchFamily="18" charset="0"/>
              </a:rPr>
              <a:t>     (4) both are formal expressions or a decision.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nSpc>
                <a:spcPct val="150000"/>
              </a:lnSpc>
            </a:pPr>
            <a:r>
              <a:rPr lang="en-US" sz="2400" u="sng" dirty="0">
                <a:latin typeface="Times New Roman" pitchFamily="18" charset="0"/>
                <a:cs typeface="Times New Roman" pitchFamily="18" charset="0"/>
              </a:rPr>
              <a:t/>
            </a:r>
            <a:br>
              <a:rPr lang="en-US" sz="2400" u="sng" dirty="0">
                <a:latin typeface="Times New Roman" pitchFamily="18" charset="0"/>
                <a:cs typeface="Times New Roman" pitchFamily="18" charset="0"/>
              </a:rPr>
            </a:br>
            <a:r>
              <a:rPr lang="en-US" sz="2400" u="sng" dirty="0">
                <a:latin typeface="Times New Roman" pitchFamily="18" charset="0"/>
                <a:cs typeface="Times New Roman" pitchFamily="18" charset="0"/>
              </a:rPr>
              <a:t>Decree and Order - Distinction</a:t>
            </a: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dirty="0"/>
              <a:t> </a:t>
            </a:r>
          </a:p>
        </p:txBody>
      </p:sp>
      <p:sp>
        <p:nvSpPr>
          <p:cNvPr id="3" name="Content Placeholder 2"/>
          <p:cNvSpPr>
            <a:spLocks noGrp="1"/>
          </p:cNvSpPr>
          <p:nvPr>
            <p:ph idx="1"/>
          </p:nvPr>
        </p:nvSpPr>
        <p:spPr>
          <a:xfrm>
            <a:off x="457200" y="914400"/>
            <a:ext cx="8229600" cy="5211763"/>
          </a:xfrm>
        </p:spPr>
        <p:txBody>
          <a:bodyPr>
            <a:normAutofit/>
          </a:bodyPr>
          <a:lstStyle/>
          <a:p>
            <a:pPr algn="just">
              <a:lnSpc>
                <a:spcPct val="150000"/>
              </a:lnSpc>
              <a:buNone/>
            </a:pPr>
            <a:endParaRPr lang="en-US" sz="2000"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457200" y="914401"/>
          <a:ext cx="8229600" cy="5917688"/>
        </p:xfrm>
        <a:graphic>
          <a:graphicData uri="http://schemas.openxmlformats.org/drawingml/2006/table">
            <a:tbl>
              <a:tblPr firstRow="1" bandRow="1">
                <a:tableStyleId>{073A0DAA-6AF3-43AB-8588-CEC1D06C72B9}</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23261">
                <a:tc>
                  <a:txBody>
                    <a:bodyPr/>
                    <a:lstStyle/>
                    <a:p>
                      <a:pPr algn="ctr"/>
                      <a:r>
                        <a:rPr lang="en-US" sz="2000" dirty="0">
                          <a:latin typeface="Times New Roman" pitchFamily="18" charset="0"/>
                          <a:cs typeface="Times New Roman" pitchFamily="18" charset="0"/>
                        </a:rPr>
                        <a:t>DECREE</a:t>
                      </a:r>
                    </a:p>
                  </a:txBody>
                  <a:tcPr/>
                </a:tc>
                <a:tc>
                  <a:txBody>
                    <a:bodyPr/>
                    <a:lstStyle/>
                    <a:p>
                      <a:pPr algn="ctr"/>
                      <a:r>
                        <a:rPr lang="en-US" sz="2000" dirty="0">
                          <a:latin typeface="Times New Roman" pitchFamily="18" charset="0"/>
                          <a:cs typeface="Times New Roman" pitchFamily="18" charset="0"/>
                        </a:rPr>
                        <a:t>ORDER</a:t>
                      </a:r>
                    </a:p>
                  </a:txBody>
                  <a:tcPr/>
                </a:tc>
                <a:extLst>
                  <a:ext uri="{0D108BD9-81ED-4DB2-BD59-A6C34878D82A}">
                    <a16:rowId xmlns:a16="http://schemas.microsoft.com/office/drawing/2014/main" val="10000"/>
                  </a:ext>
                </a:extLst>
              </a:tr>
              <a:tr h="687643">
                <a:tc>
                  <a:txBody>
                    <a:bodyPr/>
                    <a:lstStyle/>
                    <a:p>
                      <a:r>
                        <a:rPr lang="en-US" sz="2000" dirty="0">
                          <a:latin typeface="Times New Roman" pitchFamily="18" charset="0"/>
                          <a:cs typeface="Times New Roman" pitchFamily="18" charset="0"/>
                        </a:rPr>
                        <a:t>In a suit – commenced by presentation of plaint</a:t>
                      </a:r>
                    </a:p>
                  </a:txBody>
                  <a:tcPr/>
                </a:tc>
                <a:tc>
                  <a:txBody>
                    <a:bodyPr/>
                    <a:lstStyle/>
                    <a:p>
                      <a:r>
                        <a:rPr lang="en-US" sz="2000" dirty="0">
                          <a:latin typeface="Times New Roman" pitchFamily="18" charset="0"/>
                          <a:cs typeface="Times New Roman" pitchFamily="18" charset="0"/>
                        </a:rPr>
                        <a:t>In a suit or petition or application </a:t>
                      </a:r>
                    </a:p>
                  </a:txBody>
                  <a:tcPr/>
                </a:tc>
                <a:extLst>
                  <a:ext uri="{0D108BD9-81ED-4DB2-BD59-A6C34878D82A}">
                    <a16:rowId xmlns:a16="http://schemas.microsoft.com/office/drawing/2014/main" val="10001"/>
                  </a:ext>
                </a:extLst>
              </a:tr>
              <a:tr h="687643">
                <a:tc>
                  <a:txBody>
                    <a:bodyPr/>
                    <a:lstStyle/>
                    <a:p>
                      <a:r>
                        <a:rPr lang="en-US" sz="2000" dirty="0">
                          <a:latin typeface="Times New Roman" pitchFamily="18" charset="0"/>
                          <a:cs typeface="Times New Roman" pitchFamily="18" charset="0"/>
                        </a:rPr>
                        <a:t>Conclusively determines the</a:t>
                      </a:r>
                      <a:r>
                        <a:rPr lang="en-US" sz="2000" baseline="0" dirty="0">
                          <a:latin typeface="Times New Roman" pitchFamily="18" charset="0"/>
                          <a:cs typeface="Times New Roman" pitchFamily="18" charset="0"/>
                        </a:rPr>
                        <a:t> rights of the parties – all or any matter in dispute</a:t>
                      </a:r>
                      <a:endParaRPr lang="en-US" sz="20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May</a:t>
                      </a:r>
                      <a:r>
                        <a:rPr lang="en-US" sz="2000" baseline="0" dirty="0">
                          <a:latin typeface="Times New Roman" pitchFamily="18" charset="0"/>
                          <a:cs typeface="Times New Roman" pitchFamily="18" charset="0"/>
                        </a:rPr>
                        <a:t> or may not finally determine such rights</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784889">
                <a:tc>
                  <a:txBody>
                    <a:bodyPr/>
                    <a:lstStyle/>
                    <a:p>
                      <a:r>
                        <a:rPr lang="en-US" sz="2000" dirty="0">
                          <a:latin typeface="Times New Roman" pitchFamily="18" charset="0"/>
                          <a:cs typeface="Times New Roman" pitchFamily="18" charset="0"/>
                        </a:rPr>
                        <a:t>Preliminary, final and partly preliminary and partly final decree</a:t>
                      </a:r>
                    </a:p>
                  </a:txBody>
                  <a:tcPr/>
                </a:tc>
                <a:tc>
                  <a:txBody>
                    <a:bodyPr/>
                    <a:lstStyle/>
                    <a:p>
                      <a:r>
                        <a:rPr lang="en-US" sz="2000" dirty="0">
                          <a:latin typeface="Times New Roman" pitchFamily="18" charset="0"/>
                          <a:cs typeface="Times New Roman" pitchFamily="18" charset="0"/>
                        </a:rPr>
                        <a:t>Cannot be a preliminary order</a:t>
                      </a:r>
                    </a:p>
                    <a:p>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982347">
                <a:tc>
                  <a:txBody>
                    <a:bodyPr/>
                    <a:lstStyle/>
                    <a:p>
                      <a:r>
                        <a:rPr lang="en-US" sz="2000" dirty="0">
                          <a:latin typeface="Times New Roman" pitchFamily="18" charset="0"/>
                          <a:cs typeface="Times New Roman" pitchFamily="18" charset="0"/>
                        </a:rPr>
                        <a:t>Except in preliminary</a:t>
                      </a:r>
                      <a:r>
                        <a:rPr lang="en-US" sz="2000" baseline="0" dirty="0">
                          <a:latin typeface="Times New Roman" pitchFamily="18" charset="0"/>
                          <a:cs typeface="Times New Roman" pitchFamily="18" charset="0"/>
                        </a:rPr>
                        <a:t> and final decree cases, all other cases have only one decree</a:t>
                      </a:r>
                      <a:endParaRPr lang="en-US" sz="20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In a suit</a:t>
                      </a:r>
                      <a:r>
                        <a:rPr lang="en-US" sz="2000" baseline="0" dirty="0">
                          <a:latin typeface="Times New Roman" pitchFamily="18" charset="0"/>
                          <a:cs typeface="Times New Roman" pitchFamily="18" charset="0"/>
                        </a:rPr>
                        <a:t> proceedings number of orders may be passed</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784889">
                <a:tc>
                  <a:txBody>
                    <a:bodyPr/>
                    <a:lstStyle/>
                    <a:p>
                      <a:r>
                        <a:rPr lang="en-US" sz="2000" dirty="0">
                          <a:latin typeface="Times New Roman" pitchFamily="18" charset="0"/>
                          <a:cs typeface="Times New Roman" pitchFamily="18" charset="0"/>
                        </a:rPr>
                        <a:t>All decrees are appealable</a:t>
                      </a:r>
                      <a:r>
                        <a:rPr lang="en-US" sz="2000" baseline="0" dirty="0">
                          <a:latin typeface="Times New Roman" pitchFamily="18" charset="0"/>
                          <a:cs typeface="Times New Roman" pitchFamily="18" charset="0"/>
                        </a:rPr>
                        <a:t>, unless otherwise expressly provided</a:t>
                      </a:r>
                      <a:endParaRPr lang="en-US" sz="20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All orders are not appealable, except</a:t>
                      </a:r>
                      <a:r>
                        <a:rPr lang="en-US" sz="2000" baseline="0" dirty="0">
                          <a:latin typeface="Times New Roman" pitchFamily="18" charset="0"/>
                          <a:cs typeface="Times New Roman" pitchFamily="18" charset="0"/>
                        </a:rPr>
                        <a:t> </a:t>
                      </a:r>
                      <a:r>
                        <a:rPr lang="en-US" sz="2000" dirty="0">
                          <a:latin typeface="Times New Roman" pitchFamily="18" charset="0"/>
                          <a:cs typeface="Times New Roman" pitchFamily="18" charset="0"/>
                        </a:rPr>
                        <a:t>only those specified in the code</a:t>
                      </a:r>
                    </a:p>
                  </a:txBody>
                  <a:tcPr/>
                </a:tc>
                <a:extLst>
                  <a:ext uri="{0D108BD9-81ED-4DB2-BD59-A6C34878D82A}">
                    <a16:rowId xmlns:a16="http://schemas.microsoft.com/office/drawing/2014/main" val="10005"/>
                  </a:ext>
                </a:extLst>
              </a:tr>
              <a:tr h="1111929">
                <a:tc>
                  <a:txBody>
                    <a:bodyPr/>
                    <a:lstStyle/>
                    <a:p>
                      <a:r>
                        <a:rPr lang="en-US" sz="2000" dirty="0">
                          <a:latin typeface="Times New Roman" pitchFamily="18" charset="0"/>
                          <a:cs typeface="Times New Roman" pitchFamily="18" charset="0"/>
                        </a:rPr>
                        <a:t>Second appeal lies </a:t>
                      </a:r>
                    </a:p>
                  </a:txBody>
                  <a:tcPr/>
                </a:tc>
                <a:tc>
                  <a:txBody>
                    <a:bodyPr/>
                    <a:lstStyle/>
                    <a:p>
                      <a:r>
                        <a:rPr lang="en-US" sz="2000" dirty="0">
                          <a:latin typeface="Times New Roman" pitchFamily="18" charset="0"/>
                          <a:cs typeface="Times New Roman" pitchFamily="18" charset="0"/>
                        </a:rPr>
                        <a:t>No second</a:t>
                      </a:r>
                      <a:r>
                        <a:rPr lang="en-US" sz="2000" baseline="0" dirty="0">
                          <a:latin typeface="Times New Roman" pitchFamily="18" charset="0"/>
                          <a:cs typeface="Times New Roman" pitchFamily="18" charset="0"/>
                        </a:rPr>
                        <a:t> appeal </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Times New Roman" pitchFamily="18" charset="0"/>
                <a:cs typeface="Times New Roman" pitchFamily="18" charset="0"/>
              </a:rPr>
              <a:t>JUDGMENT – 2[9]</a:t>
            </a:r>
          </a:p>
        </p:txBody>
      </p:sp>
      <p:sp>
        <p:nvSpPr>
          <p:cNvPr id="3" name="Content Placeholder 2"/>
          <p:cNvSpPr>
            <a:spLocks noGrp="1"/>
          </p:cNvSpPr>
          <p:nvPr>
            <p:ph idx="1"/>
          </p:nvPr>
        </p:nvSpPr>
        <p:spPr>
          <a:xfrm>
            <a:off x="457200" y="1143000"/>
            <a:ext cx="8229600" cy="4983163"/>
          </a:xfrm>
        </p:spPr>
        <p:txBody>
          <a:bodyPr>
            <a:normAutofit/>
          </a:bodyPr>
          <a:lstStyle/>
          <a:p>
            <a:pPr>
              <a:lnSpc>
                <a:spcPct val="150000"/>
              </a:lnSpc>
              <a:buNone/>
            </a:pPr>
            <a:r>
              <a:rPr lang="en-US" sz="2000" dirty="0">
                <a:latin typeface="Times New Roman" pitchFamily="18" charset="0"/>
                <a:cs typeface="Times New Roman" pitchFamily="18" charset="0"/>
              </a:rPr>
              <a:t>Judgment:</a:t>
            </a:r>
          </a:p>
          <a:p>
            <a:pPr>
              <a:lnSpc>
                <a:spcPct val="150000"/>
              </a:lnSpc>
            </a:pPr>
            <a:r>
              <a:rPr lang="en-US" sz="2000" dirty="0">
                <a:latin typeface="Times New Roman" pitchFamily="18" charset="0"/>
                <a:cs typeface="Times New Roman" pitchFamily="18" charset="0"/>
              </a:rPr>
              <a:t>Statement given by a judge of the grounds of a decree</a:t>
            </a:r>
          </a:p>
          <a:p>
            <a:pPr>
              <a:lnSpc>
                <a:spcPct val="150000"/>
              </a:lnSpc>
            </a:pPr>
            <a:r>
              <a:rPr lang="en-US" sz="2000" dirty="0">
                <a:latin typeface="Times New Roman" pitchFamily="18" charset="0"/>
                <a:cs typeface="Times New Roman" pitchFamily="18" charset="0"/>
              </a:rPr>
              <a:t>Essential elements of  a judgment</a:t>
            </a:r>
          </a:p>
          <a:p>
            <a:pPr marL="457200" indent="-457200">
              <a:lnSpc>
                <a:spcPct val="150000"/>
              </a:lnSpc>
              <a:buAutoNum type="arabicPeriod"/>
            </a:pPr>
            <a:r>
              <a:rPr lang="en-US" sz="2000" dirty="0">
                <a:latin typeface="Times New Roman" pitchFamily="18" charset="0"/>
                <a:cs typeface="Times New Roman" pitchFamily="18" charset="0"/>
              </a:rPr>
              <a:t>A concise statement of the case</a:t>
            </a:r>
          </a:p>
          <a:p>
            <a:pPr marL="457200" indent="-457200">
              <a:lnSpc>
                <a:spcPct val="150000"/>
              </a:lnSpc>
              <a:buAutoNum type="arabicPeriod"/>
            </a:pPr>
            <a:r>
              <a:rPr lang="en-US" sz="2000" dirty="0">
                <a:latin typeface="Times New Roman" pitchFamily="18" charset="0"/>
                <a:cs typeface="Times New Roman" pitchFamily="18" charset="0"/>
              </a:rPr>
              <a:t>The points of determination</a:t>
            </a:r>
          </a:p>
          <a:p>
            <a:pPr marL="457200" indent="-457200">
              <a:lnSpc>
                <a:spcPct val="150000"/>
              </a:lnSpc>
              <a:buAutoNum type="arabicPeriod"/>
            </a:pPr>
            <a:r>
              <a:rPr lang="en-US" sz="2000" dirty="0">
                <a:latin typeface="Times New Roman" pitchFamily="18" charset="0"/>
                <a:cs typeface="Times New Roman" pitchFamily="18" charset="0"/>
              </a:rPr>
              <a:t>The decision thereon</a:t>
            </a:r>
          </a:p>
          <a:p>
            <a:pPr marL="457200" indent="-457200">
              <a:lnSpc>
                <a:spcPct val="150000"/>
              </a:lnSpc>
              <a:buAutoNum type="arabicPeriod"/>
            </a:pPr>
            <a:r>
              <a:rPr lang="en-US" sz="2000" dirty="0">
                <a:latin typeface="Times New Roman" pitchFamily="18" charset="0"/>
                <a:cs typeface="Times New Roman" pitchFamily="18" charset="0"/>
              </a:rPr>
              <a:t>The reasons for such decision</a:t>
            </a:r>
          </a:p>
          <a:p>
            <a:pPr marL="457200" indent="-457200">
              <a:lnSpc>
                <a:spcPct val="150000"/>
              </a:lnSpc>
            </a:pPr>
            <a:r>
              <a:rPr lang="en-US" sz="2000" dirty="0" err="1">
                <a:latin typeface="Times New Roman" pitchFamily="18" charset="0"/>
                <a:cs typeface="Times New Roman" pitchFamily="18" charset="0"/>
              </a:rPr>
              <a:t>Balraj</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Taneja</a:t>
            </a:r>
            <a:r>
              <a:rPr lang="en-US" sz="2000" dirty="0">
                <a:latin typeface="Times New Roman" pitchFamily="18" charset="0"/>
                <a:cs typeface="Times New Roman" pitchFamily="18" charset="0"/>
              </a:rPr>
              <a:t> Vs. Sunil </a:t>
            </a:r>
            <a:r>
              <a:rPr lang="en-US" sz="2000" dirty="0" err="1">
                <a:latin typeface="Times New Roman" pitchFamily="18" charset="0"/>
                <a:cs typeface="Times New Roman" pitchFamily="18" charset="0"/>
              </a:rPr>
              <a:t>Madan</a:t>
            </a:r>
            <a:endParaRPr lang="en-US" sz="2000" dirty="0">
              <a:latin typeface="Times New Roman" pitchFamily="18" charset="0"/>
              <a:cs typeface="Times New Roman" pitchFamily="18" charset="0"/>
            </a:endParaRPr>
          </a:p>
          <a:p>
            <a:pPr marL="457200" indent="-457200">
              <a:lnSpc>
                <a:spcPct val="150000"/>
              </a:lnSpc>
              <a:buNone/>
            </a:pPr>
            <a:r>
              <a:rPr lang="en-US" sz="2000" dirty="0">
                <a:latin typeface="Times New Roman" pitchFamily="18" charset="0"/>
                <a:cs typeface="Times New Roman" pitchFamily="18" charset="0"/>
              </a:rPr>
              <a:t>	A judge cannot merely say ‘suit decreed’ or ‘suit dismissed’</a:t>
            </a:r>
          </a:p>
          <a:p>
            <a:pPr marL="457200" indent="-457200">
              <a:lnSpc>
                <a:spcPct val="150000"/>
              </a:lnSpc>
              <a:buNone/>
            </a:pPr>
            <a:endParaRPr lang="en-US" sz="2000" dirty="0">
              <a:latin typeface="Times New Roman" pitchFamily="18" charset="0"/>
              <a:cs typeface="Times New Roman" pitchFamily="18" charset="0"/>
            </a:endParaRPr>
          </a:p>
          <a:p>
            <a:pPr marL="457200" indent="-457200">
              <a:lnSpc>
                <a:spcPct val="150000"/>
              </a:lnSpc>
              <a:buAutoNum type="arabicPeriod"/>
            </a:pPr>
            <a:endParaRPr lang="en-US" sz="2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Times New Roman" pitchFamily="18" charset="0"/>
                <a:cs typeface="Times New Roman" pitchFamily="18" charset="0"/>
              </a:rPr>
              <a:t>JUDGMENT – 2[9]</a:t>
            </a:r>
          </a:p>
        </p:txBody>
      </p:sp>
      <p:sp>
        <p:nvSpPr>
          <p:cNvPr id="3" name="Content Placeholder 2"/>
          <p:cNvSpPr>
            <a:spLocks noGrp="1"/>
          </p:cNvSpPr>
          <p:nvPr>
            <p:ph idx="1"/>
          </p:nvPr>
        </p:nvSpPr>
        <p:spPr>
          <a:xfrm>
            <a:off x="457200" y="1143000"/>
            <a:ext cx="8229600" cy="4983163"/>
          </a:xfrm>
        </p:spPr>
        <p:txBody>
          <a:bodyPr>
            <a:normAutofit/>
          </a:bodyPr>
          <a:lstStyle/>
          <a:p>
            <a:pPr>
              <a:lnSpc>
                <a:spcPct val="150000"/>
              </a:lnSpc>
            </a:pPr>
            <a:r>
              <a:rPr lang="en-US" sz="2000" dirty="0">
                <a:latin typeface="Times New Roman" pitchFamily="18" charset="0"/>
                <a:cs typeface="Times New Roman" pitchFamily="18" charset="0"/>
              </a:rPr>
              <a:t>Statement given by judge of the grounds of a decree or order</a:t>
            </a:r>
          </a:p>
          <a:p>
            <a:pPr>
              <a:lnSpc>
                <a:spcPct val="150000"/>
              </a:lnSpc>
            </a:pPr>
            <a:r>
              <a:rPr lang="en-US" sz="2000" dirty="0">
                <a:latin typeface="Times New Roman" pitchFamily="18" charset="0"/>
                <a:cs typeface="Times New Roman" pitchFamily="18" charset="0"/>
              </a:rPr>
              <a:t>Order 20 Rule 6A – The last paragraph of the judgment should state precisely the relief granted</a:t>
            </a:r>
          </a:p>
          <a:p>
            <a:pPr>
              <a:lnSpc>
                <a:spcPct val="150000"/>
              </a:lnSpc>
            </a:pPr>
            <a:r>
              <a:rPr lang="en-US" sz="2000" dirty="0">
                <a:latin typeface="Times New Roman" pitchFamily="18" charset="0"/>
                <a:cs typeface="Times New Roman" pitchFamily="18" charset="0"/>
              </a:rPr>
              <a:t>Judgment contemplates a stage prior to the passing of decree or an order, and after the pronouncement of judgment, a decree shall follow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2400" dirty="0">
                <a:latin typeface="Times New Roman" pitchFamily="18" charset="0"/>
                <a:cs typeface="Times New Roman" pitchFamily="18" charset="0"/>
              </a:rPr>
              <a:t>“DECREE – HOLDER” 2(3) </a:t>
            </a:r>
          </a:p>
        </p:txBody>
      </p:sp>
      <p:sp>
        <p:nvSpPr>
          <p:cNvPr id="3" name="Content Placeholder 2"/>
          <p:cNvSpPr>
            <a:spLocks noGrp="1"/>
          </p:cNvSpPr>
          <p:nvPr>
            <p:ph idx="1"/>
          </p:nvPr>
        </p:nvSpPr>
        <p:spPr>
          <a:xfrm>
            <a:off x="457200" y="990600"/>
            <a:ext cx="8229600" cy="5867400"/>
          </a:xfrm>
        </p:spPr>
        <p:txBody>
          <a:bodyPr>
            <a:normAutofit fontScale="92500"/>
          </a:bodyPr>
          <a:lstStyle/>
          <a:p>
            <a:pPr algn="just">
              <a:buNone/>
            </a:pPr>
            <a:r>
              <a:rPr lang="en-US" sz="2000" dirty="0">
                <a:latin typeface="Times New Roman" pitchFamily="18" charset="0"/>
                <a:cs typeface="Times New Roman" pitchFamily="18" charset="0"/>
              </a:rPr>
              <a:t>Decree holder</a:t>
            </a:r>
          </a:p>
          <a:p>
            <a:pPr algn="just">
              <a:lnSpc>
                <a:spcPct val="150000"/>
              </a:lnSpc>
            </a:pPr>
            <a:r>
              <a:rPr lang="en-US" sz="2000" dirty="0">
                <a:latin typeface="Times New Roman" pitchFamily="18" charset="0"/>
                <a:cs typeface="Times New Roman" pitchFamily="18" charset="0"/>
              </a:rPr>
              <a:t>Any person in whose </a:t>
            </a:r>
            <a:r>
              <a:rPr lang="en-US" sz="2000" dirty="0" err="1">
                <a:latin typeface="Times New Roman" pitchFamily="18" charset="0"/>
                <a:cs typeface="Times New Roman" pitchFamily="18" charset="0"/>
              </a:rPr>
              <a:t>favour</a:t>
            </a:r>
            <a:r>
              <a:rPr lang="en-US" sz="2000" dirty="0">
                <a:latin typeface="Times New Roman" pitchFamily="18" charset="0"/>
                <a:cs typeface="Times New Roman" pitchFamily="18" charset="0"/>
              </a:rPr>
              <a:t> a decree has been  passed or an order capable of execution has been made.</a:t>
            </a:r>
          </a:p>
          <a:p>
            <a:pPr algn="just">
              <a:lnSpc>
                <a:spcPct val="150000"/>
              </a:lnSpc>
            </a:pPr>
            <a:r>
              <a:rPr lang="en-US" sz="2000" dirty="0" err="1">
                <a:latin typeface="Times New Roman" pitchFamily="18" charset="0"/>
                <a:cs typeface="Times New Roman" pitchFamily="18" charset="0"/>
              </a:rPr>
              <a:t>Dhani</a:t>
            </a:r>
            <a:r>
              <a:rPr lang="en-US" sz="2000" dirty="0">
                <a:latin typeface="Times New Roman" pitchFamily="18" charset="0"/>
                <a:cs typeface="Times New Roman" pitchFamily="18" charset="0"/>
              </a:rPr>
              <a:t> Ram Vs Sri Ram</a:t>
            </a:r>
          </a:p>
          <a:p>
            <a:pPr algn="just">
              <a:lnSpc>
                <a:spcPct val="150000"/>
              </a:lnSpc>
              <a:buFont typeface="Wingdings" pitchFamily="2" charset="2"/>
              <a:buChar char="Ø"/>
            </a:pPr>
            <a:r>
              <a:rPr lang="en-US" sz="2000" dirty="0">
                <a:latin typeface="Times New Roman" pitchFamily="18" charset="0"/>
                <a:cs typeface="Times New Roman" pitchFamily="18" charset="0"/>
              </a:rPr>
              <a:t>A person who is not a party to suit but in whose </a:t>
            </a:r>
            <a:r>
              <a:rPr lang="en-US" sz="2000" dirty="0" err="1">
                <a:latin typeface="Times New Roman" pitchFamily="18" charset="0"/>
                <a:cs typeface="Times New Roman" pitchFamily="18" charset="0"/>
              </a:rPr>
              <a:t>favour</a:t>
            </a:r>
            <a:r>
              <a:rPr lang="en-US" sz="2000" dirty="0">
                <a:latin typeface="Times New Roman" pitchFamily="18" charset="0"/>
                <a:cs typeface="Times New Roman" pitchFamily="18" charset="0"/>
              </a:rPr>
              <a:t> an order capable of execution has been passed is also a decree holder</a:t>
            </a:r>
          </a:p>
          <a:p>
            <a:pPr algn="just" fontAlgn="base">
              <a:lnSpc>
                <a:spcPct val="150000"/>
              </a:lnSpc>
              <a:buFont typeface="Wingdings" pitchFamily="2" charset="2"/>
              <a:buChar char="Ø"/>
            </a:pPr>
            <a:r>
              <a:rPr lang="en-US" sz="2200" dirty="0">
                <a:latin typeface="Times New Roman" pitchFamily="18" charset="0"/>
                <a:cs typeface="Times New Roman" pitchFamily="18" charset="0"/>
              </a:rPr>
              <a:t>the said person, by the terms of the decree itself or from its nature, should be legally entitled to seek its execution.</a:t>
            </a:r>
          </a:p>
          <a:p>
            <a:pPr algn="just">
              <a:lnSpc>
                <a:spcPct val="150000"/>
              </a:lnSpc>
            </a:pPr>
            <a:r>
              <a:rPr lang="en-US" sz="2000" dirty="0">
                <a:latin typeface="Times New Roman" pitchFamily="18" charset="0"/>
                <a:cs typeface="Times New Roman" pitchFamily="18" charset="0"/>
              </a:rPr>
              <a:t>In suit for specific performance – both Pf and </a:t>
            </a:r>
            <a:r>
              <a:rPr lang="en-US" sz="2000" dirty="0" err="1">
                <a:latin typeface="Times New Roman" pitchFamily="18" charset="0"/>
                <a:cs typeface="Times New Roman" pitchFamily="18" charset="0"/>
              </a:rPr>
              <a:t>Df</a:t>
            </a:r>
            <a:r>
              <a:rPr lang="en-US" sz="2000" dirty="0">
                <a:latin typeface="Times New Roman" pitchFamily="18" charset="0"/>
                <a:cs typeface="Times New Roman" pitchFamily="18" charset="0"/>
              </a:rPr>
              <a:t> considered as decree holder</a:t>
            </a:r>
          </a:p>
          <a:p>
            <a:pPr algn="just">
              <a:lnSpc>
                <a:spcPct val="150000"/>
              </a:lnSpc>
            </a:pPr>
            <a:r>
              <a:rPr lang="en-US" sz="2000" dirty="0">
                <a:latin typeface="Times New Roman" pitchFamily="18" charset="0"/>
                <a:cs typeface="Times New Roman" pitchFamily="18" charset="0"/>
              </a:rPr>
              <a:t>In eviction order – till vacating period tenant DH and after period over landlord DH</a:t>
            </a:r>
          </a:p>
          <a:p>
            <a:pPr algn="just">
              <a:lnSpc>
                <a:spcPct val="150000"/>
              </a:lnSpc>
              <a:buNone/>
            </a:pPr>
            <a:r>
              <a:rPr lang="en-US" sz="2000" dirty="0">
                <a:latin typeface="Times New Roman" pitchFamily="18" charset="0"/>
                <a:cs typeface="Times New Roman"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2400" dirty="0">
                <a:latin typeface="Times New Roman" pitchFamily="18" charset="0"/>
                <a:cs typeface="Times New Roman" pitchFamily="18" charset="0"/>
              </a:rPr>
              <a:t>ORDER XXI RULE 10 “HOLDER OF A DECREE”</a:t>
            </a:r>
          </a:p>
        </p:txBody>
      </p:sp>
      <p:sp>
        <p:nvSpPr>
          <p:cNvPr id="3" name="Content Placeholder 2"/>
          <p:cNvSpPr>
            <a:spLocks noGrp="1"/>
          </p:cNvSpPr>
          <p:nvPr>
            <p:ph idx="1"/>
          </p:nvPr>
        </p:nvSpPr>
        <p:spPr>
          <a:xfrm>
            <a:off x="457200" y="1219200"/>
            <a:ext cx="8229600" cy="5334000"/>
          </a:xfrm>
        </p:spPr>
        <p:txBody>
          <a:bodyPr>
            <a:normAutofit/>
          </a:bodyPr>
          <a:lstStyle/>
          <a:p>
            <a:pPr algn="just">
              <a:lnSpc>
                <a:spcPct val="150000"/>
              </a:lnSpc>
              <a:buNone/>
            </a:pPr>
            <a:r>
              <a:rPr lang="en-US" sz="2000" dirty="0">
                <a:latin typeface="Times New Roman" pitchFamily="18" charset="0"/>
                <a:cs typeface="Times New Roman" pitchFamily="18" charset="0"/>
              </a:rPr>
              <a:t>	‘holder of a decree’ - Order XXI Rule 10 CPC takes in a transferee of a decree and a legal representative of the decree holder also.</a:t>
            </a:r>
          </a:p>
          <a:p>
            <a:pPr algn="just" fontAlgn="base">
              <a:lnSpc>
                <a:spcPct val="150000"/>
              </a:lnSpc>
            </a:pPr>
            <a:r>
              <a:rPr lang="en-US" sz="2000" dirty="0">
                <a:latin typeface="Times New Roman" pitchFamily="18" charset="0"/>
                <a:cs typeface="Times New Roman" pitchFamily="18" charset="0"/>
              </a:rPr>
              <a:t>Order XXI Rule 16 CPC deals with an application for execution by transferee of a decree. Such a person also comes within the expression ‘holder of a decree’.</a:t>
            </a:r>
          </a:p>
          <a:p>
            <a:pPr algn="just" fontAlgn="base">
              <a:lnSpc>
                <a:spcPct val="150000"/>
              </a:lnSpc>
            </a:pPr>
            <a:r>
              <a:rPr lang="en-US" sz="2000" dirty="0">
                <a:latin typeface="Times New Roman" pitchFamily="18" charset="0"/>
                <a:cs typeface="Times New Roman" pitchFamily="18" charset="0"/>
              </a:rPr>
              <a:t>The expression ‘holder of a decree’ in Order XXI Rule 10 CPC takes in parties other than whose name appear on the decree. Likewise, a legal representative of the decree holder, though his name may not be inscribed in the decree, can execute it as provided in the CPC. A transferee is also entitled to execute the decree. [</a:t>
            </a:r>
            <a:r>
              <a:rPr lang="en-US" sz="2000" dirty="0" err="1">
                <a:latin typeface="Times New Roman" pitchFamily="18" charset="0"/>
                <a:cs typeface="Times New Roman" pitchFamily="18" charset="0"/>
              </a:rPr>
              <a:t>Dhani</a:t>
            </a:r>
            <a:r>
              <a:rPr lang="en-US" sz="2000" dirty="0">
                <a:latin typeface="Times New Roman" pitchFamily="18" charset="0"/>
                <a:cs typeface="Times New Roman" pitchFamily="18" charset="0"/>
              </a:rPr>
              <a:t> Ram v. Sri Ram (AIR 1980 SC 157)]</a:t>
            </a:r>
          </a:p>
          <a:p>
            <a:pPr algn="just">
              <a:lnSpc>
                <a:spcPct val="150000"/>
              </a:lnSpc>
              <a:buNone/>
            </a:pPr>
            <a:endParaRPr lang="en-US" sz="20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Times New Roman" pitchFamily="18" charset="0"/>
                <a:cs typeface="Times New Roman" pitchFamily="18" charset="0"/>
              </a:rPr>
              <a:t>JUDGMENT DEBTOR 2(10)</a:t>
            </a:r>
          </a:p>
        </p:txBody>
      </p:sp>
      <p:sp>
        <p:nvSpPr>
          <p:cNvPr id="3" name="Content Placeholder 2"/>
          <p:cNvSpPr>
            <a:spLocks noGrp="1"/>
          </p:cNvSpPr>
          <p:nvPr>
            <p:ph idx="1"/>
          </p:nvPr>
        </p:nvSpPr>
        <p:spPr>
          <a:xfrm>
            <a:off x="457200" y="1143000"/>
            <a:ext cx="8229600" cy="4983163"/>
          </a:xfrm>
        </p:spPr>
        <p:txBody>
          <a:bodyPr>
            <a:normAutofit/>
          </a:bodyPr>
          <a:lstStyle/>
          <a:p>
            <a:pPr>
              <a:lnSpc>
                <a:spcPct val="150000"/>
              </a:lnSpc>
              <a:buNone/>
            </a:pPr>
            <a:r>
              <a:rPr lang="en-US" sz="2000" dirty="0">
                <a:latin typeface="Times New Roman" pitchFamily="18" charset="0"/>
                <a:cs typeface="Times New Roman" pitchFamily="18" charset="0"/>
              </a:rPr>
              <a:t>Judgment-debtor: </a:t>
            </a:r>
          </a:p>
          <a:p>
            <a:pPr>
              <a:lnSpc>
                <a:spcPct val="150000"/>
              </a:lnSpc>
            </a:pPr>
            <a:r>
              <a:rPr lang="en-US" sz="2000" dirty="0">
                <a:latin typeface="Times New Roman" pitchFamily="18" charset="0"/>
                <a:cs typeface="Times New Roman" pitchFamily="18" charset="0"/>
              </a:rPr>
              <a:t> any person against whom a decree has been passed or an order capable of execution has been made</a:t>
            </a:r>
          </a:p>
          <a:p>
            <a:pPr>
              <a:lnSpc>
                <a:spcPct val="150000"/>
              </a:lnSpc>
            </a:pPr>
            <a:r>
              <a:rPr lang="en-US" sz="2000" dirty="0">
                <a:latin typeface="Times New Roman" pitchFamily="18" charset="0"/>
                <a:cs typeface="Times New Roman" pitchFamily="18" charset="0"/>
              </a:rPr>
              <a:t>where a decree is passed against a surety he is a judgment-debtor within the meaning of this section</a:t>
            </a:r>
          </a:p>
          <a:p>
            <a:pPr>
              <a:lnSpc>
                <a:spcPct val="150000"/>
              </a:lnSpc>
            </a:pPr>
            <a:r>
              <a:rPr lang="en-US" sz="2000" dirty="0">
                <a:latin typeface="Times New Roman" pitchFamily="18" charset="0"/>
                <a:cs typeface="Times New Roman" pitchFamily="18" charset="0"/>
              </a:rPr>
              <a:t>on the other hand a person who is a party to a suit but no decree has been passed against him is not a judgment-debtor.</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itchFamily="18" charset="0"/>
                <a:cs typeface="Times New Roman" pitchFamily="18" charset="0"/>
              </a:rPr>
              <a:t>MESNE PROFITS - 2(12)</a:t>
            </a:r>
          </a:p>
        </p:txBody>
      </p:sp>
      <p:sp>
        <p:nvSpPr>
          <p:cNvPr id="3" name="Content Placeholder 2"/>
          <p:cNvSpPr>
            <a:spLocks noGrp="1"/>
          </p:cNvSpPr>
          <p:nvPr>
            <p:ph idx="1"/>
          </p:nvPr>
        </p:nvSpPr>
        <p:spPr>
          <a:xfrm>
            <a:off x="457200" y="990600"/>
            <a:ext cx="8229600" cy="5410200"/>
          </a:xfrm>
        </p:spPr>
        <p:txBody>
          <a:bodyPr>
            <a:normAutofit/>
          </a:bodyPr>
          <a:lstStyle/>
          <a:p>
            <a:pPr algn="just">
              <a:lnSpc>
                <a:spcPct val="150000"/>
              </a:lnSpc>
            </a:pPr>
            <a:r>
              <a:rPr lang="en-US" sz="2000" dirty="0" err="1">
                <a:latin typeface="Times New Roman" pitchFamily="18" charset="0"/>
                <a:cs typeface="Times New Roman" pitchFamily="18" charset="0"/>
              </a:rPr>
              <a:t>Mesnes</a:t>
            </a:r>
            <a:r>
              <a:rPr lang="en-US" sz="2000" dirty="0">
                <a:latin typeface="Times New Roman" pitchFamily="18" charset="0"/>
                <a:cs typeface="Times New Roman" pitchFamily="18" charset="0"/>
              </a:rPr>
              <a:t> profits of property means those profits which the person in wrongful possession of such property actually received or might with ordinary diligence have received </a:t>
            </a:r>
            <a:r>
              <a:rPr lang="en-US" sz="2000" dirty="0" err="1">
                <a:latin typeface="Times New Roman" pitchFamily="18" charset="0"/>
                <a:cs typeface="Times New Roman" pitchFamily="18" charset="0"/>
              </a:rPr>
              <a:t>therefrom</a:t>
            </a:r>
            <a:r>
              <a:rPr lang="en-US" sz="2000" dirty="0">
                <a:latin typeface="Times New Roman" pitchFamily="18" charset="0"/>
                <a:cs typeface="Times New Roman" pitchFamily="18" charset="0"/>
              </a:rPr>
              <a:t> together with interest on such profits but shall not include profits due to improvement made by the person in wrongful possession.</a:t>
            </a:r>
          </a:p>
          <a:p>
            <a:pPr algn="just">
              <a:lnSpc>
                <a:spcPct val="150000"/>
              </a:lnSpc>
            </a:pPr>
            <a:r>
              <a:rPr lang="en-US" sz="2000" dirty="0">
                <a:latin typeface="Times New Roman" pitchFamily="18" charset="0"/>
                <a:cs typeface="Times New Roman" pitchFamily="18" charset="0"/>
              </a:rPr>
              <a:t>Every person has a right to possess his property and when he is deprived of such right by another person he is not only entitled to restoration of  possession of his property but also damages for wrongful possession from that person. Mp as compensation.</a:t>
            </a:r>
          </a:p>
          <a:p>
            <a:pPr algn="just">
              <a:lnSpc>
                <a:spcPct val="150000"/>
              </a:lnSpc>
            </a:pPr>
            <a:r>
              <a:rPr lang="en-US" sz="2000" dirty="0">
                <a:latin typeface="Times New Roman" pitchFamily="18" charset="0"/>
                <a:cs typeface="Times New Roman" pitchFamily="18" charset="0"/>
              </a:rPr>
              <a:t>Interest is allowed not exceeding 6% per annum.</a:t>
            </a:r>
          </a:p>
          <a:p>
            <a:pPr algn="just">
              <a:lnSpc>
                <a:spcPct val="150000"/>
              </a:lnSpc>
            </a:pPr>
            <a:r>
              <a:rPr lang="en-US" sz="2000" dirty="0">
                <a:latin typeface="Times New Roman" pitchFamily="18" charset="0"/>
                <a:cs typeface="Times New Roman" pitchFamily="18" charset="0"/>
              </a:rPr>
              <a:t>Deductions are allowed – rent, tax, cost of cultivation etc.,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Times New Roman" pitchFamily="18" charset="0"/>
                <a:cs typeface="Times New Roman" pitchFamily="18" charset="0"/>
              </a:rPr>
              <a:t>AFFIDAVIT- ORDER 19</a:t>
            </a:r>
          </a:p>
        </p:txBody>
      </p:sp>
      <p:sp>
        <p:nvSpPr>
          <p:cNvPr id="3" name="Content Placeholder 2"/>
          <p:cNvSpPr>
            <a:spLocks noGrp="1"/>
          </p:cNvSpPr>
          <p:nvPr>
            <p:ph idx="1"/>
          </p:nvPr>
        </p:nvSpPr>
        <p:spPr>
          <a:xfrm>
            <a:off x="457200" y="990600"/>
            <a:ext cx="8229600" cy="5410200"/>
          </a:xfrm>
        </p:spPr>
        <p:txBody>
          <a:bodyPr>
            <a:normAutofit lnSpcReduction="10000"/>
          </a:bodyPr>
          <a:lstStyle/>
          <a:p>
            <a:pPr algn="just">
              <a:lnSpc>
                <a:spcPct val="150000"/>
              </a:lnSpc>
            </a:pPr>
            <a:r>
              <a:rPr lang="en-US" sz="2000" dirty="0">
                <a:latin typeface="Times New Roman" pitchFamily="18" charset="0"/>
                <a:cs typeface="Times New Roman" pitchFamily="18" charset="0"/>
              </a:rPr>
              <a:t>A sworn statement in writing made especially under oath or an affirmation before an </a:t>
            </a:r>
            <a:r>
              <a:rPr lang="en-US" sz="2000" dirty="0" err="1">
                <a:latin typeface="Times New Roman" pitchFamily="18" charset="0"/>
                <a:cs typeface="Times New Roman" pitchFamily="18" charset="0"/>
              </a:rPr>
              <a:t>authorised</a:t>
            </a:r>
            <a:r>
              <a:rPr lang="en-US" sz="2000" dirty="0">
                <a:latin typeface="Times New Roman" pitchFamily="18" charset="0"/>
                <a:cs typeface="Times New Roman" pitchFamily="18" charset="0"/>
              </a:rPr>
              <a:t> officer or Magistrate</a:t>
            </a:r>
          </a:p>
          <a:p>
            <a:pPr algn="just">
              <a:lnSpc>
                <a:spcPct val="150000"/>
              </a:lnSpc>
            </a:pPr>
            <a:r>
              <a:rPr lang="en-US" sz="2000" dirty="0">
                <a:latin typeface="Times New Roman" pitchFamily="18" charset="0"/>
                <a:cs typeface="Times New Roman" pitchFamily="18" charset="0"/>
              </a:rPr>
              <a:t>It should be drawn up in first person and should contain only facts and not inferences</a:t>
            </a:r>
          </a:p>
          <a:p>
            <a:pPr algn="just">
              <a:lnSpc>
                <a:spcPct val="150000"/>
              </a:lnSpc>
            </a:pPr>
            <a:r>
              <a:rPr lang="en-US" sz="2000" dirty="0">
                <a:latin typeface="Times New Roman" pitchFamily="18" charset="0"/>
                <a:cs typeface="Times New Roman" pitchFamily="18" charset="0"/>
              </a:rPr>
              <a:t>Essential elements </a:t>
            </a:r>
          </a:p>
          <a:p>
            <a:pPr marL="457200" indent="-457200" algn="just">
              <a:lnSpc>
                <a:spcPct val="150000"/>
              </a:lnSpc>
              <a:buFont typeface="+mj-lt"/>
              <a:buAutoNum type="arabicPeriod"/>
            </a:pPr>
            <a:r>
              <a:rPr lang="en-US" sz="2000" dirty="0">
                <a:latin typeface="Times New Roman" pitchFamily="18" charset="0"/>
                <a:cs typeface="Times New Roman" pitchFamily="18" charset="0"/>
              </a:rPr>
              <a:t>Declaration made by a person</a:t>
            </a:r>
          </a:p>
          <a:p>
            <a:pPr marL="457200" indent="-457200" algn="just">
              <a:lnSpc>
                <a:spcPct val="150000"/>
              </a:lnSpc>
              <a:buFont typeface="+mj-lt"/>
              <a:buAutoNum type="arabicPeriod"/>
            </a:pPr>
            <a:r>
              <a:rPr lang="en-US" sz="2000" dirty="0">
                <a:latin typeface="Times New Roman" pitchFamily="18" charset="0"/>
                <a:cs typeface="Times New Roman" pitchFamily="18" charset="0"/>
              </a:rPr>
              <a:t>Relate to facts</a:t>
            </a:r>
          </a:p>
          <a:p>
            <a:pPr marL="457200" indent="-457200" algn="just">
              <a:lnSpc>
                <a:spcPct val="150000"/>
              </a:lnSpc>
              <a:buFont typeface="+mj-lt"/>
              <a:buAutoNum type="arabicPeriod"/>
            </a:pPr>
            <a:r>
              <a:rPr lang="en-US" sz="2000" dirty="0">
                <a:latin typeface="Times New Roman" pitchFamily="18" charset="0"/>
                <a:cs typeface="Times New Roman" pitchFamily="18" charset="0"/>
              </a:rPr>
              <a:t>In writing</a:t>
            </a:r>
          </a:p>
          <a:p>
            <a:pPr marL="457200" indent="-457200" algn="just">
              <a:lnSpc>
                <a:spcPct val="150000"/>
              </a:lnSpc>
              <a:buFont typeface="+mj-lt"/>
              <a:buAutoNum type="arabicPeriod"/>
            </a:pPr>
            <a:r>
              <a:rPr lang="en-US" sz="2000" dirty="0">
                <a:latin typeface="Times New Roman" pitchFamily="18" charset="0"/>
                <a:cs typeface="Times New Roman" pitchFamily="18" charset="0"/>
              </a:rPr>
              <a:t>In the first person</a:t>
            </a:r>
          </a:p>
          <a:p>
            <a:pPr marL="457200" indent="-457200" algn="just">
              <a:lnSpc>
                <a:spcPct val="150000"/>
              </a:lnSpc>
              <a:buFont typeface="+mj-lt"/>
              <a:buAutoNum type="arabicPeriod"/>
            </a:pPr>
            <a:r>
              <a:rPr lang="en-US" sz="2000" dirty="0">
                <a:latin typeface="Times New Roman" pitchFamily="18" charset="0"/>
                <a:cs typeface="Times New Roman" pitchFamily="18" charset="0"/>
              </a:rPr>
              <a:t>Have been sworn or affirmed before Magistrate or any other </a:t>
            </a:r>
            <a:r>
              <a:rPr lang="en-US" sz="2000" dirty="0" err="1">
                <a:latin typeface="Times New Roman" pitchFamily="18" charset="0"/>
                <a:cs typeface="Times New Roman" pitchFamily="18" charset="0"/>
              </a:rPr>
              <a:t>authorised</a:t>
            </a:r>
            <a:r>
              <a:rPr lang="en-US" sz="2000" dirty="0">
                <a:latin typeface="Times New Roman" pitchFamily="18" charset="0"/>
                <a:cs typeface="Times New Roman" pitchFamily="18" charset="0"/>
              </a:rPr>
              <a:t> officer </a:t>
            </a:r>
          </a:p>
          <a:p>
            <a:pPr algn="just">
              <a:lnSpc>
                <a:spcPct val="150000"/>
              </a:lnSpc>
            </a:pPr>
            <a:endParaRPr lang="en-US"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Times New Roman" pitchFamily="18" charset="0"/>
                <a:cs typeface="Times New Roman" pitchFamily="18" charset="0"/>
              </a:rPr>
              <a:t>AFFIDAVIT- ORDER 19</a:t>
            </a:r>
          </a:p>
        </p:txBody>
      </p:sp>
      <p:sp>
        <p:nvSpPr>
          <p:cNvPr id="3" name="Content Placeholder 2"/>
          <p:cNvSpPr>
            <a:spLocks noGrp="1"/>
          </p:cNvSpPr>
          <p:nvPr>
            <p:ph idx="1"/>
          </p:nvPr>
        </p:nvSpPr>
        <p:spPr>
          <a:xfrm>
            <a:off x="457200" y="1066800"/>
            <a:ext cx="8229600" cy="5334000"/>
          </a:xfrm>
        </p:spPr>
        <p:txBody>
          <a:bodyPr>
            <a:normAutofit/>
          </a:bodyPr>
          <a:lstStyle/>
          <a:p>
            <a:pPr algn="just">
              <a:lnSpc>
                <a:spcPct val="150000"/>
              </a:lnSpc>
            </a:pPr>
            <a:r>
              <a:rPr lang="en-US" sz="2000" dirty="0">
                <a:latin typeface="Times New Roman" pitchFamily="18" charset="0"/>
                <a:cs typeface="Times New Roman" pitchFamily="18" charset="0"/>
              </a:rPr>
              <a:t>Order 19 Rule 1 is a sort of exception to </a:t>
            </a:r>
            <a:r>
              <a:rPr lang="en-US" sz="2000">
                <a:latin typeface="Times New Roman" pitchFamily="18" charset="0"/>
                <a:cs typeface="Times New Roman" pitchFamily="18" charset="0"/>
              </a:rPr>
              <a:t>section </a:t>
            </a:r>
            <a:r>
              <a:rPr lang="en-US" sz="2000" smtClean="0">
                <a:latin typeface="Times New Roman" pitchFamily="18" charset="0"/>
                <a:cs typeface="Times New Roman" pitchFamily="18" charset="0"/>
              </a:rPr>
              <a:t>1 </a:t>
            </a:r>
            <a:r>
              <a:rPr lang="en-US" sz="2000" dirty="0">
                <a:latin typeface="Times New Roman" pitchFamily="18" charset="0"/>
                <a:cs typeface="Times New Roman" pitchFamily="18" charset="0"/>
              </a:rPr>
              <a:t>of </a:t>
            </a:r>
            <a:r>
              <a:rPr lang="en-US" sz="2000" dirty="0" smtClean="0">
                <a:latin typeface="Times New Roman" pitchFamily="18" charset="0"/>
                <a:cs typeface="Times New Roman" pitchFamily="18" charset="0"/>
              </a:rPr>
              <a:t>BSA </a:t>
            </a:r>
            <a:endParaRPr lang="en-US" sz="2000" dirty="0">
              <a:latin typeface="Times New Roman" pitchFamily="18" charset="0"/>
              <a:cs typeface="Times New Roman" pitchFamily="18" charset="0"/>
            </a:endParaRPr>
          </a:p>
          <a:p>
            <a:pPr algn="just">
              <a:lnSpc>
                <a:spcPct val="150000"/>
              </a:lnSpc>
              <a:buNone/>
            </a:pPr>
            <a:r>
              <a:rPr lang="en-US" sz="2000" dirty="0">
                <a:latin typeface="Times New Roman" pitchFamily="18" charset="0"/>
                <a:cs typeface="Times New Roman" pitchFamily="18" charset="0"/>
              </a:rPr>
              <a:t>	A fact has to be proved by oral evidence, since affidavits are not included in the definition of evidence.</a:t>
            </a:r>
          </a:p>
          <a:p>
            <a:pPr algn="just">
              <a:lnSpc>
                <a:spcPct val="150000"/>
              </a:lnSpc>
            </a:pPr>
            <a:r>
              <a:rPr lang="en-US" sz="2000" dirty="0">
                <a:latin typeface="Times New Roman" pitchFamily="18" charset="0"/>
                <a:cs typeface="Times New Roman" pitchFamily="18" charset="0"/>
              </a:rPr>
              <a:t>State of Bombay Vs. </a:t>
            </a:r>
            <a:r>
              <a:rPr lang="en-US" sz="2000" dirty="0" err="1">
                <a:latin typeface="Times New Roman" pitchFamily="18" charset="0"/>
                <a:cs typeface="Times New Roman" pitchFamily="18" charset="0"/>
              </a:rPr>
              <a:t>Purshottam</a:t>
            </a:r>
            <a:r>
              <a:rPr lang="en-US" sz="2000" dirty="0">
                <a:latin typeface="Times New Roman" pitchFamily="18" charset="0"/>
                <a:cs typeface="Times New Roman" pitchFamily="18" charset="0"/>
              </a:rPr>
              <a:t> Jog </a:t>
            </a:r>
          </a:p>
          <a:p>
            <a:pPr algn="just">
              <a:lnSpc>
                <a:spcPct val="150000"/>
              </a:lnSpc>
              <a:buNone/>
            </a:pPr>
            <a:r>
              <a:rPr lang="en-US" sz="2000" dirty="0">
                <a:latin typeface="Times New Roman" pitchFamily="18" charset="0"/>
                <a:cs typeface="Times New Roman" pitchFamily="18" charset="0"/>
              </a:rPr>
              <a:t>	Where an averment is  not based on personal knowledge, the source of information must be clearly disclosed</a:t>
            </a:r>
          </a:p>
          <a:p>
            <a:pPr algn="just">
              <a:lnSpc>
                <a:spcPct val="150000"/>
              </a:lnSpc>
            </a:pPr>
            <a:r>
              <a:rPr lang="en-US" sz="2000" dirty="0" err="1">
                <a:latin typeface="Times New Roman" pitchFamily="18" charset="0"/>
                <a:cs typeface="Times New Roman" pitchFamily="18" charset="0"/>
              </a:rPr>
              <a:t>Nambiar</a:t>
            </a:r>
            <a:r>
              <a:rPr lang="en-US" sz="2000" dirty="0">
                <a:latin typeface="Times New Roman" pitchFamily="18" charset="0"/>
                <a:cs typeface="Times New Roman" pitchFamily="18" charset="0"/>
              </a:rPr>
              <a:t> Vs. Union of India</a:t>
            </a:r>
          </a:p>
          <a:p>
            <a:pPr algn="just">
              <a:lnSpc>
                <a:spcPct val="150000"/>
              </a:lnSpc>
              <a:buNone/>
            </a:pPr>
            <a:r>
              <a:rPr lang="en-US" sz="2000" dirty="0">
                <a:latin typeface="Times New Roman" pitchFamily="18" charset="0"/>
                <a:cs typeface="Times New Roman" pitchFamily="18" charset="0"/>
              </a:rPr>
              <a:t>	If affidavits are not properly verified, then it will be rejected by courts</a:t>
            </a:r>
            <a:r>
              <a:rPr lang="en-US" sz="2400" b="1" dirty="0">
                <a:latin typeface="Times New Roman" pitchFamily="18" charset="0"/>
                <a:cs typeface="Times New Roman" pitchFamily="18" charset="0"/>
              </a:rPr>
              <a:t>			</a:t>
            </a:r>
            <a:endParaRPr lang="en-US" sz="22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1035</Words>
  <Application>Microsoft Office PowerPoint</Application>
  <PresentationFormat>On-screen Show (4:3)</PresentationFormat>
  <Paragraphs>149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DECREE 2(2) </vt:lpstr>
      <vt:lpstr>ESSENTIAL ELEMENTS</vt:lpstr>
      <vt:lpstr>PowerPoint Presentation</vt:lpstr>
      <vt:lpstr>PowerPoint Presentation</vt:lpstr>
      <vt:lpstr>Kinds of decree</vt:lpstr>
      <vt:lpstr>PowerPoint Presentation</vt:lpstr>
      <vt:lpstr>PowerPoint Presentation</vt:lpstr>
      <vt:lpstr>PowerPoint Presentation</vt:lpstr>
      <vt:lpstr>ORDER 2(14) </vt:lpstr>
      <vt:lpstr> Decree and Order - Distinction   </vt:lpstr>
      <vt:lpstr>JUDGMENT – 2[9]</vt:lpstr>
      <vt:lpstr>JUDGMENT – 2[9]</vt:lpstr>
      <vt:lpstr>“DECREE – HOLDER” 2(3) </vt:lpstr>
      <vt:lpstr>ORDER XXI RULE 10 “HOLDER OF A DECREE”</vt:lpstr>
      <vt:lpstr>JUDGMENT DEBTOR 2(10)</vt:lpstr>
      <vt:lpstr>MESNE PROFITS - 2(12)</vt:lpstr>
      <vt:lpstr>AFFIDAVIT- ORDER 19</vt:lpstr>
      <vt:lpstr>AFFIDAVIT- ORDER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DECREE 2(2) </dc:title>
  <dc:creator>sathya vijay</dc:creator>
  <cp:lastModifiedBy>SATHIYA</cp:lastModifiedBy>
  <cp:revision>49</cp:revision>
  <dcterms:created xsi:type="dcterms:W3CDTF">2006-08-16T00:00:00Z</dcterms:created>
  <dcterms:modified xsi:type="dcterms:W3CDTF">2026-01-23T07:02:56Z</dcterms:modified>
</cp:coreProperties>
</file>